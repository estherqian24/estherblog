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1A3A4A"/>
                </a:solidFill>
                <a:latin typeface="Microsoft YaHei"/>
              </a:rPr>
              <a:t>数据传输方式多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D7A6F"/>
                </a:solidFill>
                <a:latin typeface="Microsoft YaHei"/>
              </a:rPr>
              <a:t>任务1 + 任务2 完整版｜20分钟试讲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A6A72"/>
                </a:solidFill>
                <a:latin typeface="Microsoft YaHei"/>
              </a:rPr>
              <a:t>八年级信息科技 · 互动 + AI小青 · v2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A3A4A"/>
                </a:solidFill>
                <a:latin typeface="Microsoft YaHei"/>
              </a:rPr>
              <a:t>今天两个任务都要完成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03520" cy="3840480"/>
          </a:xfrm>
          <a:prstGeom prst="roundRect">
            <a:avLst/>
          </a:prstGeom>
          <a:solidFill>
            <a:srgbClr val="E6F3F1"/>
          </a:solidFill>
          <a:ln w="12700">
            <a:solidFill>
              <a:srgbClr val="D0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7A6F"/>
                </a:solidFill>
                <a:latin typeface="Microsoft YaHei"/>
              </a:rPr>
              <a:t>任务1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说一说共享单车的使用过程</a:t>
            </a:r>
          </a:p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/>
            </a:r>
          </a:p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排出顺序</a:t>
            </a:r>
          </a:p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看见数据在谁和谁之间流动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035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45C26"/>
                </a:solidFill>
                <a:latin typeface="Microsoft YaHei"/>
              </a:rPr>
              <a:t>任务2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0312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分析共享单车中的数据传输</a:t>
            </a:r>
          </a:p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/>
            </a:r>
          </a:p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找车 · 开锁 · 弱网补位</a:t>
            </a:r>
          </a:p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匹配 4G/5G · NB-IoT · 蓝牙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2"/>
                </a:solidFill>
                <a:latin typeface="Microsoft YaHei"/>
              </a:rPr>
              <a:t>时间：任务1约4分钟｜任务2约11分钟｜小结+AI收束约5分钟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A3A4A"/>
                </a:solidFill>
                <a:latin typeface="Microsoft YaHei"/>
              </a:rPr>
              <a:t>AI助手“小青”登场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10972800" cy="2011680"/>
          </a:xfrm>
          <a:prstGeom prst="roundRect">
            <a:avLst/>
          </a:prstGeom>
          <a:solidFill>
            <a:srgbClr val="E6F3F1"/>
          </a:solidFill>
          <a:ln w="12700">
            <a:solidFill>
              <a:srgbClr val="D0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3A4A"/>
                </a:solidFill>
                <a:latin typeface="Microsoft YaHei"/>
              </a:rPr>
              <a:t>老师问小青：共享单车是不是全都用 Wi-Fi 传数据就行？</a:t>
            </a:r>
          </a:p>
          <a:p>
            <a:pPr algn="l"/>
            <a:r>
              <a:rPr sz="2400" b="1">
                <a:solidFill>
                  <a:srgbClr val="1A3A4A"/>
                </a:solidFill>
                <a:latin typeface="Microsoft YaHei"/>
              </a:rPr>
              <a:t>（现场粘贴AI回答 / 或看第11页备援气泡）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661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课堂规则：</a:t>
            </a:r>
          </a:p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1. 小青可以发言，但不是标准答案</a:t>
            </a:r>
          </a:p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2. 下课前，用今天的分析判断：它说得对，还是不完整？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2"/>
                </a:solidFill>
                <a:latin typeface="Microsoft YaHei"/>
              </a:rPr>
              <a:t>AI-1 钩子｜约40秒｜失败则切第11页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3A4A"/>
                </a:solidFill>
                <a:latin typeface="Microsoft YaHei"/>
              </a:rPr>
              <a:t>任务1：把使用过程排正确（25秒）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88720"/>
            <a:ext cx="274320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5A6A72"/>
                </a:solidFill>
                <a:latin typeface="Microsoft YaHei"/>
              </a:rPr>
              <a:t>卡片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A3A4A"/>
                </a:solidFill>
                <a:latin typeface="Microsoft YaHei"/>
              </a:rPr>
              <a:t>扫码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188720"/>
            <a:ext cx="274320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5A6A72"/>
                </a:solidFill>
                <a:latin typeface="Microsoft YaHei"/>
              </a:rPr>
              <a:t>卡片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2860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A3A4A"/>
                </a:solidFill>
                <a:latin typeface="Microsoft YaHei"/>
              </a:rPr>
              <a:t>打开小程序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188720"/>
            <a:ext cx="274320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5A6A72"/>
                </a:solidFill>
                <a:latin typeface="Microsoft YaHei"/>
              </a:rPr>
              <a:t>卡片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2860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A3A4A"/>
                </a:solidFill>
                <a:latin typeface="Microsoft YaHei"/>
              </a:rPr>
              <a:t>开锁骑走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188720"/>
            <a:ext cx="274320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5A6A72"/>
                </a:solidFill>
                <a:latin typeface="Microsoft YaHei"/>
              </a:rPr>
              <a:t>卡片 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22860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A3A4A"/>
                </a:solidFill>
                <a:latin typeface="Microsoft YaHei"/>
              </a:rPr>
              <a:t>看到附近的车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548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D7A6F"/>
                </a:solidFill>
                <a:latin typeface="Microsoft YaHei"/>
              </a:rPr>
              <a:t>揭晓顺序：B → D → A → C</a:t>
            </a:r>
          </a:p>
          <a:p>
            <a:pPr algn="l"/>
            <a:r>
              <a:rPr sz="2200" b="0">
                <a:solidFill>
                  <a:srgbClr val="0D7A6F"/>
                </a:solidFill>
                <a:latin typeface="Microsoft YaHei"/>
              </a:rPr>
              <a:t>打开小程序 → 看到附近的车 → 扫码 → 开锁骑走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2"/>
                </a:solidFill>
                <a:latin typeface="Microsoft YaHei"/>
              </a:rPr>
              <a:t>同桌排序｜抽1组报序｜任务1必须在5:30前结束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3A4A"/>
                </a:solidFill>
                <a:latin typeface="Microsoft YaHei"/>
              </a:rPr>
              <a:t>任务1收口：数据在谁和谁之间流动？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2926080" cy="1828800"/>
          </a:xfrm>
          <a:prstGeom prst="roundRect">
            <a:avLst/>
          </a:prstGeom>
          <a:solidFill>
            <a:srgbClr val="E6F3F1"/>
          </a:solidFill>
          <a:ln w="12700">
            <a:solidFill>
              <a:srgbClr val="D0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6517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A3A4A"/>
                </a:solidFill>
                <a:latin typeface="Microsoft YaHei"/>
              </a:rPr>
              <a:t>手机/小程序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2103120"/>
            <a:ext cx="2926080" cy="1828800"/>
          </a:xfrm>
          <a:prstGeom prst="roundRect">
            <a:avLst/>
          </a:prstGeom>
          <a:solidFill>
            <a:srgbClr val="E6F3F1"/>
          </a:solidFill>
          <a:ln w="12700">
            <a:solidFill>
              <a:srgbClr val="D0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26517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A3A4A"/>
                </a:solidFill>
                <a:latin typeface="Microsoft YaHei"/>
              </a:rPr>
              <a:t>服务器/云端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2103120"/>
            <a:ext cx="2926080" cy="1828800"/>
          </a:xfrm>
          <a:prstGeom prst="roundRect">
            <a:avLst/>
          </a:prstGeom>
          <a:solidFill>
            <a:srgbClr val="E6F3F1"/>
          </a:solidFill>
          <a:ln w="12700">
            <a:solidFill>
              <a:srgbClr val="D0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26517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A3A4A"/>
                </a:solidFill>
                <a:latin typeface="Microsoft YaHei"/>
              </a:rPr>
              <a:t>共享单车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720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手指比划15秒：手机 ↔ 服务器 ↔ 单车</a:t>
            </a:r>
          </a:p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（有时还有 手机 ↔ 单车）</a:t>
            </a:r>
          </a:p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→ 任务2：给每条线找通道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2"/>
                </a:solidFill>
                <a:latin typeface="Microsoft YaHei"/>
              </a:rPr>
              <a:t>任务1完成标志：学生能指出三条关系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3A4A"/>
                </a:solidFill>
                <a:latin typeface="Microsoft YaHei"/>
              </a:rPr>
              <a:t>任务2·找车：手机用什么通道？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109728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3A4A"/>
                </a:solidFill>
                <a:latin typeface="Microsoft YaHei"/>
              </a:rPr>
              <a:t>小程序怎么知道附近有车？手机这边投票：</a:t>
            </a:r>
          </a:p>
          <a:p>
            <a:pPr algn="l"/>
            <a:r>
              <a:rPr sz="2600" b="0">
                <a:solidFill>
                  <a:srgbClr val="1A3A4A"/>
                </a:solidFill>
                <a:latin typeface="Microsoft YaHei"/>
              </a:rPr>
              <a:t/>
            </a:r>
          </a:p>
          <a:p>
            <a:pPr algn="l"/>
            <a:r>
              <a:rPr sz="2600" b="0">
                <a:solidFill>
                  <a:srgbClr val="1A3A4A"/>
                </a:solidFill>
                <a:latin typeface="Microsoft YaHei"/>
              </a:rPr>
              <a:t>A. 只用 Wi-Fi 就够了</a:t>
            </a:r>
          </a:p>
          <a:p>
            <a:pPr algn="l"/>
            <a:r>
              <a:rPr sz="2600" b="0">
                <a:solidFill>
                  <a:srgbClr val="1A3A4A"/>
                </a:solidFill>
                <a:latin typeface="Microsoft YaHei"/>
              </a:rPr>
              <a:t>B. 出门常用 4G/5G</a:t>
            </a:r>
          </a:p>
          <a:p>
            <a:pPr algn="l"/>
            <a:r>
              <a:rPr sz="2600" b="0">
                <a:solidFill>
                  <a:srgbClr val="1A3A4A"/>
                </a:solidFill>
                <a:latin typeface="Microsoft YaHei"/>
              </a:rPr>
              <a:t>C. 必须插网线</a:t>
            </a:r>
          </a:p>
          <a:p>
            <a:pPr algn="l"/>
            <a:r>
              <a:rPr sz="2600" b="0">
                <a:solidFill>
                  <a:srgbClr val="1A3A4A"/>
                </a:solidFill>
                <a:latin typeface="Microsoft YaHei"/>
              </a:rPr>
              <a:t/>
            </a:r>
          </a:p>
          <a:p>
            <a:pPr algn="l"/>
            <a:r>
              <a:rPr sz="2600" b="0">
                <a:solidFill>
                  <a:srgbClr val="1A3A4A"/>
                </a:solidFill>
                <a:latin typeface="Microsoft YaHei"/>
              </a:rPr>
              <a:t>请举手选 B 的……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2"/>
                </a:solidFill>
                <a:latin typeface="Microsoft YaHei"/>
              </a:rPr>
              <a:t>全班投票20秒｜再问单车能不能一直跑很费电的高速通道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3A4A"/>
                </a:solidFill>
                <a:latin typeface="Microsoft YaHei"/>
              </a:rPr>
              <a:t>找车揭晓：两种通道分工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5303520" cy="4114800"/>
          </a:xfrm>
          <a:prstGeom prst="roundRect">
            <a:avLst/>
          </a:prstGeom>
          <a:solidFill>
            <a:srgbClr val="E6F3F1"/>
          </a:solidFill>
          <a:ln w="12700">
            <a:solidFill>
              <a:srgbClr val="D0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D7A6F"/>
                </a:solidFill>
                <a:latin typeface="Microsoft YaHei"/>
              </a:rPr>
              <a:t>手机 · 4G/5G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人话：高速通道</a:t>
            </a:r>
          </a:p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/>
            </a:r>
          </a:p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发请求 / 拉车辆列表</a:t>
            </a:r>
          </a:p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快，但相对费电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43000"/>
            <a:ext cx="5303520" cy="4114800"/>
          </a:xfrm>
          <a:prstGeom prst="roundRect">
            <a:avLst/>
          </a:prstGeom>
          <a:solidFill>
            <a:srgbClr val="E6F3F1"/>
          </a:solidFill>
          <a:ln w="12700">
            <a:solidFill>
              <a:srgbClr val="D0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4173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C45C26"/>
                </a:solidFill>
                <a:latin typeface="Microsoft YaHei"/>
              </a:rPr>
              <a:t>单车 · NB-IoT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0312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人话：省电长跑通道</a:t>
            </a:r>
          </a:p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/>
            </a:r>
          </a:p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上报位置等小数据</a:t>
            </a:r>
          </a:p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省电 · 稳 · 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2"/>
                </a:solidFill>
                <a:latin typeface="Microsoft YaHei"/>
              </a:rPr>
              <a:t>齐答：找车时手机走____，单车走____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3A4A"/>
                </a:solidFill>
                <a:latin typeface="Microsoft YaHei"/>
              </a:rPr>
              <a:t>任务2·开锁：请求 / 指令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14400"/>
            <a:ext cx="10972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3A4A"/>
                </a:solidFill>
                <a:latin typeface="Microsoft YaHei"/>
              </a:rPr>
              <a:t>① 手机 → 服务器：4G/5G 发送【开锁请求】</a:t>
            </a:r>
          </a:p>
          <a:p>
            <a:pPr algn="l"/>
            <a:r>
              <a:rPr sz="2400" b="1">
                <a:solidFill>
                  <a:srgbClr val="1A3A4A"/>
                </a:solidFill>
                <a:latin typeface="Microsoft YaHei"/>
              </a:rPr>
              <a:t>② 服务器 → 单车：NB-IoT 发送【开锁指令】</a:t>
            </a:r>
          </a:p>
          <a:p>
            <a:pPr algn="l"/>
            <a:r>
              <a:rPr sz="2400" b="1">
                <a:solidFill>
                  <a:srgbClr val="1A3A4A"/>
                </a:solidFill>
                <a:latin typeface="Microsoft YaHei"/>
              </a:rPr>
              <a:t/>
            </a:r>
          </a:p>
          <a:p>
            <a:pPr algn="l"/>
            <a:r>
              <a:rPr sz="2400" b="1">
                <a:solidFill>
                  <a:srgbClr val="1A3A4A"/>
                </a:solidFill>
                <a:latin typeface="Microsoft YaHei"/>
              </a:rPr>
              <a:t>同桌12秒互说，必须用上这两个词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74720"/>
            <a:ext cx="10972800" cy="2194560"/>
          </a:xfrm>
          <a:prstGeom prst="roundRect">
            <a:avLst/>
          </a:prstGeom>
          <a:solidFill>
            <a:srgbClr val="E6F3F1"/>
          </a:solidFill>
          <a:ln w="12700">
            <a:solidFill>
              <a:srgbClr val="D0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49039"/>
            <a:ext cx="10424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AI-2 问小青：</a:t>
            </a:r>
          </a:p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「地下室信号差，只靠 NB-IoT 开锁够不够？还要什么？」</a:t>
            </a:r>
          </a:p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→ 引出：蓝牙（贴身短距通道）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2"/>
                </a:solidFill>
                <a:latin typeface="Microsoft YaHei"/>
              </a:rPr>
              <a:t>学生先猜，再看AI｜然后全班判断小青对不对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3A4A"/>
                </a:solidFill>
                <a:latin typeface="Microsoft YaHei"/>
              </a:rPr>
              <a:t>弱网补位 + 智能车锁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14400"/>
            <a:ext cx="5303520" cy="4754880"/>
          </a:xfrm>
          <a:prstGeom prst="roundRect">
            <a:avLst/>
          </a:prstGeom>
          <a:solidFill>
            <a:srgbClr val="E6F3F1"/>
          </a:solidFill>
          <a:ln w="12700">
            <a:solidFill>
              <a:srgbClr val="D0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D7A6F"/>
                </a:solidFill>
                <a:latin typeface="Microsoft YaHei"/>
              </a:rPr>
              <a:t>蓝牙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人话：贴身短距通道</a:t>
            </a:r>
          </a:p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/>
            </a:r>
          </a:p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无网 / 弱网也能连</a:t>
            </a:r>
          </a:p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距离短 · 数据小</a:t>
            </a:r>
          </a:p>
          <a:p>
            <a:pPr algn="l"/>
            <a:r>
              <a:rPr sz="2200" b="0">
                <a:solidFill>
                  <a:srgbClr val="1A3A4A"/>
                </a:solidFill>
                <a:latin typeface="Microsoft YaHei"/>
              </a:rPr>
              <a:t>适合辅助开锁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914400"/>
            <a:ext cx="53035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1887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3A4A"/>
                </a:solidFill>
                <a:latin typeface="Microsoft YaHei"/>
              </a:rPr>
              <a:t>智能车锁模块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A3A4A"/>
                </a:solidFill>
                <a:latin typeface="Microsoft YaHei"/>
              </a:rPr>
              <a:t>微控制器（大脑）</a:t>
            </a:r>
          </a:p>
          <a:p>
            <a:pPr algn="l"/>
            <a:r>
              <a:rPr sz="2000" b="0">
                <a:solidFill>
                  <a:srgbClr val="1A3A4A"/>
                </a:solidFill>
                <a:latin typeface="Microsoft YaHei"/>
              </a:rPr>
              <a:t>电池</a:t>
            </a:r>
          </a:p>
          <a:p>
            <a:pPr algn="l"/>
            <a:r>
              <a:rPr sz="2000" b="0">
                <a:solidFill>
                  <a:srgbClr val="1A3A4A"/>
                </a:solidFill>
                <a:latin typeface="Microsoft YaHei"/>
              </a:rPr>
              <a:t>GPS 定位</a:t>
            </a:r>
          </a:p>
          <a:p>
            <a:pPr algn="l"/>
            <a:r>
              <a:rPr sz="2000" b="0">
                <a:solidFill>
                  <a:srgbClr val="1A3A4A"/>
                </a:solidFill>
                <a:latin typeface="Microsoft YaHei"/>
              </a:rPr>
              <a:t>数据传输模块 ←</a:t>
            </a:r>
          </a:p>
          <a:p>
            <a:pPr algn="l"/>
            <a:r>
              <a:rPr sz="2000" b="0">
                <a:solidFill>
                  <a:srgbClr val="1A3A4A"/>
                </a:solidFill>
                <a:latin typeface="Microsoft YaHei"/>
              </a:rPr>
              <a:t>NB-IoT / 蓝牙 / 4G Cat.1</a:t>
            </a:r>
          </a:p>
          <a:p>
            <a:pPr algn="l"/>
            <a:r>
              <a:rPr sz="2000" b="0">
                <a:solidFill>
                  <a:srgbClr val="1A3A4A"/>
                </a:solidFill>
                <a:latin typeface="Microsoft YaHei"/>
              </a:rPr>
              <a:t/>
            </a:r>
          </a:p>
          <a:p>
            <a:pPr algn="l"/>
            <a:r>
              <a:rPr sz="2000" b="0">
                <a:solidFill>
                  <a:srgbClr val="1A3A4A"/>
                </a:solidFill>
                <a:latin typeface="Microsoft YaHei"/>
              </a:rPr>
              <a:t>齐答：一种不够，多种配合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2"/>
                </a:solidFill>
                <a:latin typeface="Microsoft YaHei"/>
              </a:rPr>
              <a:t>任务2完成标志：三通道都能对上场景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4A"/>
                </a:solidFill>
                <a:latin typeface="Microsoft YaHei"/>
              </a:rPr>
              <a:t>对对碰小结：我喊场景，你喊通道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347472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3A4A"/>
                </a:solidFill>
                <a:latin typeface="Microsoft YaHei"/>
              </a:rPr>
              <a:t>手机查附近的车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D7A6F"/>
                </a:solidFill>
                <a:latin typeface="Microsoft YaHei"/>
              </a:rPr>
              <a:t>4G/5G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097280"/>
            <a:ext cx="347472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59" y="13716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3A4A"/>
                </a:solidFill>
                <a:latin typeface="Microsoft YaHei"/>
              </a:rPr>
              <a:t>单车汇报位置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59" y="2743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D7A6F"/>
                </a:solidFill>
                <a:latin typeface="Microsoft YaHei"/>
              </a:rPr>
              <a:t>NB-IoT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1097280"/>
            <a:ext cx="347472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9" y="13716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3A4A"/>
                </a:solidFill>
                <a:latin typeface="Microsoft YaHei"/>
              </a:rPr>
              <a:t>地下车库辅助开锁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9" y="2743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D7A6F"/>
                </a:solidFill>
                <a:latin typeface="Microsoft YaHei"/>
              </a:rPr>
              <a:t>蓝牙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062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3A4A"/>
                </a:solidFill>
                <a:latin typeface="Microsoft YaHei"/>
              </a:rPr>
              <a:t>结论：数据会旅行；路不止一条；</a:t>
            </a:r>
          </a:p>
          <a:p>
            <a:pPr algn="l"/>
            <a:r>
              <a:rPr sz="2400" b="1">
                <a:solidFill>
                  <a:srgbClr val="1A3A4A"/>
                </a:solidFill>
                <a:latin typeface="Microsoft YaHei"/>
              </a:rPr>
              <a:t>选哪条，看距离、功耗和场景。</a:t>
            </a:r>
          </a:p>
          <a:p>
            <a:pPr algn="l"/>
            <a:r>
              <a:rPr sz="2400" b="1">
                <a:solidFill>
                  <a:srgbClr val="1A3A4A"/>
                </a:solidFill>
                <a:latin typeface="Microsoft YaHei"/>
              </a:rPr>
              <a:t>→ 所以“全都用Wi-Fi”不完整！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2"/>
                </a:solidFill>
                <a:latin typeface="Microsoft YaHei"/>
              </a:rPr>
              <a:t>16:30必须进入本页｜19:00进AI收束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4A"/>
                </a:solidFill>
                <a:latin typeface="Microsoft YaHei"/>
              </a:rPr>
              <a:t>备援页：小青预置回答（无网可用）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14400"/>
            <a:ext cx="10972800" cy="1554480"/>
          </a:xfrm>
          <a:prstGeom prst="roundRect">
            <a:avLst/>
          </a:prstGeom>
          <a:solidFill>
            <a:srgbClr val="E6F3F1"/>
          </a:solidFill>
          <a:ln w="12700">
            <a:solidFill>
              <a:srgbClr val="D0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7A6F"/>
                </a:solidFill>
                <a:latin typeface="Microsoft YaHei"/>
              </a:rPr>
              <a:t>AI-1 钩子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A3A4A"/>
                </a:solidFill>
                <a:latin typeface="Microsoft YaHei"/>
              </a:rPr>
              <a:t>小青：可以呀，Wi-Fi很方便，共享单车都用Wi-Fi就行。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109728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83464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7A6F"/>
                </a:solidFill>
                <a:latin typeface="Microsoft YaHei"/>
              </a:rPr>
              <a:t>AI-2 开锁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A3A4A"/>
                </a:solidFill>
                <a:latin typeface="Microsoft YaHei"/>
              </a:rPr>
              <a:t>小青：地下室信号差时，只靠远程通道可能不稳，还可用蓝牙近距离辅助开锁。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97680"/>
            <a:ext cx="10972800" cy="1554480"/>
          </a:xfrm>
          <a:prstGeom prst="roundRect">
            <a:avLst/>
          </a:prstGeom>
          <a:solidFill>
            <a:srgbClr val="E6F3F1"/>
          </a:solidFill>
          <a:ln w="12700">
            <a:solidFill>
              <a:srgbClr val="D0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2628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7A6F"/>
                </a:solidFill>
                <a:latin typeface="Microsoft YaHei"/>
              </a:rPr>
              <a:t>AI-3 收束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98348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A3A4A"/>
                </a:solidFill>
                <a:latin typeface="Microsoft YaHei"/>
              </a:rPr>
              <a:t>小青：因为很多设备要省电、要传得远、数据又不大，不能全靠高耗电高速网络。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2"/>
                </a:solidFill>
                <a:latin typeface="Microsoft YaHei"/>
              </a:rPr>
              <a:t>现场AI失败时直接读气泡，流程不中断｜仍要求学生判断对错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