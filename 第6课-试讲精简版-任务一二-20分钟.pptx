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3A4A"/>
                </a:solidFill>
                <a:latin typeface="Microsoft YaHei"/>
              </a:rPr>
              <a:t>数据传输方式多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7A6F"/>
                </a:solidFill>
                <a:latin typeface="Microsoft YaHei"/>
              </a:rPr>
              <a:t>活动一  探析物联系统中的数据传输（任务1–2）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A72"/>
                </a:solidFill>
                <a:latin typeface="Microsoft YaHei"/>
              </a:rPr>
              <a:t>八年级 · 信息科技 · 试讲精简版 · 20分钟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A4A"/>
                </a:solidFill>
                <a:latin typeface="Microsoft YaHei"/>
              </a:rPr>
              <a:t>今天我们要解决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828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4A"/>
                </a:solidFill>
                <a:latin typeface="Microsoft YaHei"/>
              </a:rPr>
              <a:t>① 共享单车物联系统里，数据是怎么“旅行”的？</a:t>
            </a:r>
          </a:p>
          <a:p>
            <a:pPr algn="l"/>
            <a:r>
              <a:rPr sz="2800" b="1">
                <a:solidFill>
                  <a:srgbClr val="1A3A4A"/>
                </a:solidFill>
                <a:latin typeface="Microsoft YaHei"/>
              </a:rPr>
              <a:t>② 为什么不能只用一种数据传输方式？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A6A72"/>
                </a:solidFill>
                <a:latin typeface="Microsoft YaHei"/>
              </a:rPr>
              <a:t>学习提示：先说生活过程 → 再找数据路径 → 最后给通道起名字</a:t>
            </a:r>
          </a:p>
          <a:p>
            <a:pPr algn="l"/>
            <a:r>
              <a:rPr sz="2200" b="0">
                <a:solidFill>
                  <a:srgbClr val="5A6A72"/>
                </a:solidFill>
                <a:latin typeface="Microsoft YaHei"/>
              </a:rPr>
              <a:t>（4G/5G、NB-IoT、蓝牙）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互动：用过共享单车的同学举手｜约2分钟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4A"/>
                </a:solidFill>
                <a:latin typeface="Microsoft YaHei"/>
              </a:rPr>
              <a:t>任务1：说一说共享单车的使用过程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A6F"/>
                </a:solidFill>
                <a:latin typeface="Microsoft YaHei"/>
              </a:rPr>
              <a:t>① 找车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（先听学生说）</a:t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/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打开小程序，看见附近的车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A6F"/>
                </a:solidFill>
                <a:latin typeface="Microsoft YaHei"/>
              </a:rPr>
              <a:t>② 开锁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86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（先听学生说）</a:t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/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扫码，车锁打开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28016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A6F"/>
                </a:solidFill>
                <a:latin typeface="Microsoft YaHei"/>
              </a:rPr>
              <a:t>③ 骑行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2860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（先听学生说）</a:t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/>
            </a:r>
          </a:p>
          <a:p>
            <a:pPr algn="l"/>
            <a:r>
              <a:rPr sz="2000" b="0">
                <a:solidFill>
                  <a:srgbClr val="5A6A72"/>
                </a:solidFill>
                <a:latin typeface="Microsoft YaHei"/>
              </a:rPr>
              <a:t>骑走，到达后还车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同桌商量10秒 → 请1位说，其他人补充｜先说生活，不说技术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A4A"/>
                </a:solidFill>
                <a:latin typeface="Microsoft YaHei"/>
              </a:rPr>
              <a:t>数据在“旅行”：先找路径，暂不命名技术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926080" cy="1828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3A4A"/>
                </a:solidFill>
                <a:latin typeface="Microsoft YaHei"/>
              </a:rPr>
              <a:t>手机/小程序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2926080" cy="1828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3A4A"/>
                </a:solidFill>
                <a:latin typeface="Microsoft YaHei"/>
              </a:rPr>
              <a:t>服务器/云端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86000"/>
            <a:ext cx="2926080" cy="1828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834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3A4A"/>
                </a:solidFill>
                <a:latin typeface="Microsoft YaHei"/>
              </a:rPr>
              <a:t>共享单车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想一想：找车时，数据可能在哪几条线上流动？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用手指比划：手机 ↔ 服务器 ↔ 单车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同桌指图20秒｜抽2人各说一句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A4A"/>
                </a:solidFill>
                <a:latin typeface="Microsoft YaHei"/>
              </a:rPr>
              <a:t>任务2·情境A：小程序怎么知道车在哪？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7A6F"/>
                </a:solidFill>
                <a:latin typeface="Microsoft YaHei"/>
              </a:rPr>
              <a:t>手机这一端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投票：手机连什么网更合理？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A. 只用教室Wi-Fi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B. 4G/5G移动网络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C. 必须插网线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45C26"/>
                </a:solidFill>
                <a:latin typeface="Microsoft YaHei"/>
              </a:rPr>
              <a:t>单车这一端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如果每辆车都像手机一样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又快又费电——现实吗？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先投票再揭晓｜约2分钟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A4A"/>
                </a:solidFill>
                <a:latin typeface="Microsoft YaHei"/>
              </a:rPr>
              <a:t>揭晓：找车时的两种通道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114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7A6F"/>
                </a:solidFill>
                <a:latin typeface="Microsoft YaHei"/>
              </a:rPr>
              <a:t>手机 · 4G/5G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人话标签：高速通道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上传位置/请求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拉取附近车辆列表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特点：快，但相对费电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1148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45C26"/>
                </a:solidFill>
                <a:latin typeface="Microsoft YaHei"/>
              </a:rPr>
              <a:t>单车 · NB-IoT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人话标签：省电长跑通道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（窄带物联网）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上报位置等小数据</a:t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/>
            </a:r>
          </a:p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超低功耗 · 信号稳 · 传得远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齐答填空：找车时，手机走____，单车走____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4A"/>
                </a:solidFill>
                <a:latin typeface="Microsoft YaHei"/>
              </a:rPr>
              <a:t>任务2·情境B：扫码后，如何打开“这一辆”？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A4A"/>
                </a:solidFill>
                <a:latin typeface="Microsoft YaHei"/>
              </a:rPr>
              <a:t>① 手机扫码得到车辆身份 → 经 4G/5G 向服务器发送【开锁请求】</a:t>
            </a:r>
          </a:p>
          <a:p>
            <a:pPr algn="l"/>
            <a:r>
              <a:rPr sz="2400" b="1">
                <a:solidFill>
                  <a:srgbClr val="1A3A4A"/>
                </a:solidFill>
                <a:latin typeface="Microsoft YaHei"/>
              </a:rPr>
              <a:t>② 服务器 → 经 NB-IoT 向该车发送【开锁指令】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7A6F"/>
                </a:solidFill>
                <a:latin typeface="Microsoft YaHei"/>
              </a:rPr>
              <a:t>同桌互说一遍，必须用上两个词：</a:t>
            </a:r>
          </a:p>
          <a:p>
            <a:pPr algn="l"/>
            <a:r>
              <a:rPr sz="2400" b="0">
                <a:solidFill>
                  <a:srgbClr val="0D7A6F"/>
                </a:solidFill>
                <a:latin typeface="Microsoft YaHei"/>
              </a:rPr>
              <a:t>“开锁请求” 和 “开锁指令”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允许合理的其他流程，给予肯定（教材提示）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4A"/>
                </a:solidFill>
                <a:latin typeface="Microsoft YaHei"/>
              </a:rPr>
              <a:t>如果信号不好，还能开锁吗？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7589520" cy="32004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7A6F"/>
                </a:solidFill>
                <a:latin typeface="Microsoft YaHei"/>
              </a:rPr>
              <a:t>蓝牙 · 贴身短距通道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3464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3A4A"/>
                </a:solidFill>
                <a:latin typeface="Microsoft YaHei"/>
              </a:rPr>
              <a:t>无网 / 弱网也能辅助连接</a:t>
            </a:r>
          </a:p>
          <a:p>
            <a:pPr algn="ctr"/>
            <a:r>
              <a:rPr sz="2400" b="0">
                <a:solidFill>
                  <a:srgbClr val="1A3A4A"/>
                </a:solidFill>
                <a:latin typeface="Microsoft YaHei"/>
              </a:rPr>
              <a:t>距离短 · 数据量小 · 适合辅助开锁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问题引出，不要先放答案｜约1.5分钟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A4A"/>
                </a:solidFill>
                <a:latin typeface="Microsoft YaHei"/>
              </a:rPr>
              <a:t>核心部件——智能车锁（一眼看懂）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4A"/>
                </a:solidFill>
                <a:latin typeface="Microsoft YaHei"/>
              </a:rPr>
              <a:t>微控制器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控制整把锁（大脑）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39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4A"/>
                </a:solidFill>
                <a:latin typeface="Microsoft YaHei"/>
              </a:rPr>
              <a:t>电池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为智能锁供电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4A"/>
                </a:solidFill>
                <a:latin typeface="Microsoft YaHei"/>
              </a:rPr>
              <a:t>GPS模块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A4A"/>
                </a:solidFill>
                <a:latin typeface="Microsoft YaHei"/>
              </a:rPr>
              <a:t>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59"/>
            <a:ext cx="10972800" cy="91440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Microsoft YaHei"/>
              </a:rPr>
              <a:t>数据传输模块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805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4A"/>
                </a:solidFill>
                <a:latin typeface="Microsoft YaHei"/>
              </a:rPr>
              <a:t>常为 NB-IoT、蓝牙、4G Cat.1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齐答：一种方式不够，多种方式配合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A4A"/>
                </a:solidFill>
                <a:latin typeface="Microsoft YaHei"/>
              </a:rPr>
              <a:t>本节小结（前半课）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D7A6F"/>
                </a:solidFill>
                <a:latin typeface="Microsoft YaHei"/>
              </a:rPr>
              <a:t>4G/5G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3A4A"/>
                </a:solidFill>
                <a:latin typeface="Microsoft YaHei"/>
              </a:rPr>
              <a:t>高速通道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A72"/>
                </a:solidFill>
                <a:latin typeface="Microsoft YaHei"/>
              </a:rPr>
              <a:t>手机↔服务器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D7A6F"/>
                </a:solidFill>
                <a:latin typeface="Microsoft YaHei"/>
              </a:rPr>
              <a:t>NB-IoT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3A4A"/>
                </a:solidFill>
                <a:latin typeface="Microsoft YaHei"/>
              </a:rPr>
              <a:t>省电长跑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A72"/>
                </a:solidFill>
                <a:latin typeface="Microsoft YaHei"/>
              </a:rPr>
              <a:t>单车↔服务器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18872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D7A6F"/>
                </a:solidFill>
                <a:latin typeface="Microsoft YaHei"/>
              </a:rPr>
              <a:t>蓝牙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3A4A"/>
                </a:solidFill>
                <a:latin typeface="Microsoft YaHei"/>
              </a:rPr>
              <a:t>贴身短距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926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A72"/>
                </a:solidFill>
                <a:latin typeface="Microsoft YaHei"/>
              </a:rPr>
              <a:t>手机↔车锁补位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3A4A"/>
                </a:solidFill>
                <a:latin typeface="Microsoft YaHei"/>
              </a:rPr>
              <a:t>结论：物联网里数据会旅行；旅行的路不止一条；</a:t>
            </a:r>
          </a:p>
          <a:p>
            <a:pPr algn="l"/>
            <a:r>
              <a:rPr sz="2400" b="1">
                <a:solidFill>
                  <a:srgbClr val="1A3A4A"/>
                </a:solidFill>
                <a:latin typeface="Microsoft YaHei"/>
              </a:rPr>
              <a:t>选哪条，看距离、功耗和场景。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2"/>
                </a:solidFill>
                <a:latin typeface="Microsoft YaHei"/>
              </a:rPr>
              <a:t>跟读结论｜预告下半节：有线/无线与更多方式比较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