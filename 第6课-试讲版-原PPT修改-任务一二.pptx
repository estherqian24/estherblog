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593" r:id="rId2"/>
    <p:sldId id="520" r:id="rId3"/>
    <p:sldId id="595" r:id="rId4"/>
    <p:sldId id="649" r:id="rId18"/>
    <p:sldId id="597" r:id="rId5"/>
    <p:sldId id="625" r:id="rId6"/>
    <p:sldId id="645" r:id="rId7"/>
    <p:sldId id="650" r:id="rId19"/>
    <p:sldId id="640" r:id="rId8"/>
    <p:sldId id="647" r:id="rId9"/>
    <p:sldId id="648" r:id="rId10"/>
    <p:sldId id="651" r:id="rId20"/>
  </p:sldIdLst>
  <p:sldSz cx="12192000" cy="6858000"/>
  <p:notesSz cx="6858000" cy="9144000"/>
  <p:custDataLst>
    <p:tags r:id="rId2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71" userDrawn="1">
          <p15:clr>
            <a:srgbClr val="A4A3A4"/>
          </p15:clr>
        </p15:guide>
        <p15:guide id="2" pos="599" userDrawn="1">
          <p15:clr>
            <a:srgbClr val="A4A3A4"/>
          </p15:clr>
        </p15:guide>
        <p15:guide id="3" pos="6878" userDrawn="1">
          <p15:clr>
            <a:srgbClr val="A4A3A4"/>
          </p15:clr>
        </p15:guide>
        <p15:guide id="4" orient="horz" pos="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643"/>
    <a:srgbClr val="2E4C64"/>
    <a:srgbClr val="007AFC"/>
    <a:srgbClr val="95C7FA"/>
    <a:srgbClr val="F6F6F6"/>
    <a:srgbClr val="711000"/>
    <a:srgbClr val="1784AD"/>
    <a:srgbClr val="014E6A"/>
    <a:srgbClr val="F7F7F7"/>
    <a:srgbClr val="A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581" autoAdjust="0"/>
  </p:normalViewPr>
  <p:slideViewPr>
    <p:cSldViewPr snapToGrid="0" showGuides="1">
      <p:cViewPr varScale="1">
        <p:scale>
          <a:sx n="76" d="100"/>
          <a:sy n="76" d="100"/>
        </p:scale>
        <p:origin x="651" y="48"/>
      </p:cViewPr>
      <p:guideLst>
        <p:guide orient="horz" pos="3771"/>
        <p:guide pos="599"/>
        <p:guide pos="6878"/>
        <p:guide orient="horz" pos="48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7344"/>
    </p:cViewPr>
  </p:sorter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57FE95A-1FF0-4568-8F86-0FE691715E6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9E2DF19-391F-414E-AF3C-23BFC169676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E5F7B05-4B96-4F5F-B806-D99396CD7062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43CA2E4-3BFE-4860-AB78-7DBE9632C95C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470F777-8F76-4E58-967D-78AFCC084C0E}" type="slidenum">
              <a:rPr lang="zh-CN" altLang="en-US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304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200" dirty="0"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830513"/>
            <a:ext cx="4095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8E0DF-3665-4C20-8C85-D72E0A04F13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161F31-3451-4657-A1A5-E6152D5CC0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431800" y="365125"/>
            <a:ext cx="2133600" cy="71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9456234" y="256478"/>
            <a:ext cx="2453268" cy="512956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500839" y="345688"/>
            <a:ext cx="2297151" cy="401444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2B0652C-902F-46F1-BD6C-9E4BF38181EB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FB6B509-FCD0-4EBA-ABA3-F8A4EF0D028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jpeg"/><Relationship Id="rId5" Type="http://schemas.openxmlformats.org/officeDocument/2006/relationships/image" Target="../media/image11.png"/><Relationship Id="rId6" Type="http://schemas.openxmlformats.org/officeDocument/2006/relationships/image" Target="../media/image12.jpe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tags" Target="../tags/tag16.xml"/><Relationship Id="rId7" Type="http://schemas.openxmlformats.org/officeDocument/2006/relationships/tags" Target="../tags/tag17.xml"/><Relationship Id="rId8" Type="http://schemas.openxmlformats.org/officeDocument/2006/relationships/tags" Target="../tags/tag18.xml"/><Relationship Id="rId9" Type="http://schemas.openxmlformats.org/officeDocument/2006/relationships/tags" Target="../tags/tag19.xml"/><Relationship Id="rId10" Type="http://schemas.openxmlformats.org/officeDocument/2006/relationships/tags" Target="../tags/tag20.xml"/><Relationship Id="rId11" Type="http://schemas.openxmlformats.org/officeDocument/2006/relationships/tags" Target="../tags/tag21.xml"/><Relationship Id="rId12" Type="http://schemas.openxmlformats.org/officeDocument/2006/relationships/tags" Target="../tags/tag22.xml"/><Relationship Id="rId13" Type="http://schemas.openxmlformats.org/officeDocument/2006/relationships/tags" Target="../tags/tag23.xml"/><Relationship Id="rId14" Type="http://schemas.openxmlformats.org/officeDocument/2006/relationships/tags" Target="../tags/tag24.xml"/><Relationship Id="rId15" Type="http://schemas.openxmlformats.org/officeDocument/2006/relationships/tags" Target="../tags/tag25.xml"/><Relationship Id="rId16" Type="http://schemas.openxmlformats.org/officeDocument/2006/relationships/tags" Target="../tags/tag26.xml"/><Relationship Id="rId17" Type="http://schemas.openxmlformats.org/officeDocument/2006/relationships/tags" Target="../tags/tag27.xml"/><Relationship Id="rId18" Type="http://schemas.openxmlformats.org/officeDocument/2006/relationships/tags" Target="../tags/tag28.xml"/><Relationship Id="rId19" Type="http://schemas.openxmlformats.org/officeDocument/2006/relationships/tags" Target="../tags/tag29.xml"/><Relationship Id="rId20" Type="http://schemas.openxmlformats.org/officeDocument/2006/relationships/tags" Target="../tags/tag30.xml"/><Relationship Id="rId21" Type="http://schemas.openxmlformats.org/officeDocument/2006/relationships/tags" Target="../tags/tag31.xml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8.xml"/><Relationship Id="rId24" Type="http://schemas.openxmlformats.org/officeDocument/2006/relationships/image" Target="../media/image6.png"/><Relationship Id="rId25" Type="http://schemas.openxmlformats.org/officeDocument/2006/relationships/image" Target="../media/image10.jpeg"/><Relationship Id="rId26" Type="http://schemas.openxmlformats.org/officeDocument/2006/relationships/image" Target="../media/image11.png"/><Relationship Id="rId27" Type="http://schemas.openxmlformats.org/officeDocument/2006/relationships/image" Target="../media/image12.jpeg"/><Relationship Id="rId28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2306955" y="2044065"/>
            <a:ext cx="7424420" cy="85217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数据传输方式多</a:t>
            </a:r>
          </a:p>
        </p:txBody>
      </p:sp>
      <p:sp>
        <p:nvSpPr>
          <p:cNvPr id="6" name="副标题 2"/>
          <p:cNvSpPr txBox="1"/>
          <p:nvPr/>
        </p:nvSpPr>
        <p:spPr>
          <a:xfrm>
            <a:off x="1667510" y="3503295"/>
            <a:ext cx="9534525" cy="1106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年    级：八年级                   学    科：</a:t>
            </a:r>
            <a:r>
              <a:rPr lang="zh-CN" altLang="en-US" sz="2800" dirty="0">
                <a:solidFill>
                  <a:prstClr val="white"/>
                </a:solidFill>
              </a:rPr>
              <a:t>信息科技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8155" y="1001395"/>
            <a:ext cx="5618480" cy="873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数据传输方式多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2E4C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175552" y="4297045"/>
            <a:ext cx="5461000" cy="540257"/>
            <a:chOff x="996174" y="2188583"/>
            <a:chExt cx="5312149" cy="540000"/>
          </a:xfrm>
        </p:grpSpPr>
        <p:grpSp>
          <p:nvGrpSpPr>
            <p:cNvPr id="3" name="组合 2"/>
            <p:cNvGrpSpPr/>
            <p:nvPr/>
          </p:nvGrpSpPr>
          <p:grpSpPr>
            <a:xfrm>
              <a:off x="996174" y="2188583"/>
              <a:ext cx="5312149" cy="540000"/>
              <a:chOff x="1635965" y="1686127"/>
              <a:chExt cx="5918164" cy="601602"/>
            </a:xfrm>
          </p:grpSpPr>
          <p:sp>
            <p:nvSpPr>
              <p:cNvPr id="4" name="圆角矩形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1852735" y="1729967"/>
                <a:ext cx="5701394" cy="528206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矩形 4"/>
              <p:cNvSpPr/>
              <p:nvPr>
                <p:custDataLst>
                  <p:tags r:id="rId9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5122" y="2227300"/>
              <a:ext cx="4990332" cy="460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    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生活中有哪些数据传输的方式？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1175552" y="2889250"/>
            <a:ext cx="5461000" cy="539750"/>
            <a:chOff x="4439" y="3920"/>
            <a:chExt cx="8600" cy="850"/>
          </a:xfrm>
        </p:grpSpPr>
        <p:grpSp>
          <p:nvGrpSpPr>
            <p:cNvPr id="9" name="组合 8"/>
            <p:cNvGrpSpPr/>
            <p:nvPr>
              <p:custDataLst>
                <p:tags r:id="rId3"/>
              </p:custDataLst>
            </p:nvPr>
          </p:nvGrpSpPr>
          <p:grpSpPr>
            <a:xfrm>
              <a:off x="4439" y="3920"/>
              <a:ext cx="8600" cy="850"/>
              <a:chOff x="7529" y="2240"/>
              <a:chExt cx="8600" cy="850"/>
            </a:xfrm>
          </p:grpSpPr>
          <p:sp>
            <p:nvSpPr>
              <p:cNvPr id="10" name="圆角矩形 28"/>
              <p:cNvSpPr/>
              <p:nvPr>
                <p:custDataLst>
                  <p:tags r:id="rId5"/>
                </p:custDataLst>
              </p:nvPr>
            </p:nvSpPr>
            <p:spPr>
              <a:xfrm>
                <a:off x="7844" y="2302"/>
                <a:ext cx="8285" cy="747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矩形 10"/>
              <p:cNvSpPr/>
              <p:nvPr>
                <p:custDataLst>
                  <p:tags r:id="rId6"/>
                </p:custDataLst>
              </p:nvPr>
            </p:nvSpPr>
            <p:spPr>
              <a:xfrm rot="18614181">
                <a:off x="7541" y="2228"/>
                <a:ext cx="850" cy="874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4584" y="4010"/>
              <a:ext cx="8455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      </a:t>
              </a:r>
              <a:r>
                <a:rPr lang="zh-CN" altLang="en-US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物联系统中数据是怎样传输的？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61689" y="2206304"/>
            <a:ext cx="10430510" cy="2281805"/>
            <a:chOff x="1761689" y="2206304"/>
            <a:chExt cx="10430510" cy="2281805"/>
          </a:xfrm>
          <a:solidFill>
            <a:schemeClr val="bg1">
              <a:lumMod val="75000"/>
            </a:schemeClr>
          </a:solidFill>
        </p:grpSpPr>
        <p:sp>
          <p:nvSpPr>
            <p:cNvPr id="9" name="矩形 1"/>
            <p:cNvSpPr/>
            <p:nvPr/>
          </p:nvSpPr>
          <p:spPr>
            <a:xfrm rot="10800000">
              <a:off x="1761689" y="2206304"/>
              <a:ext cx="1904301" cy="2281805"/>
            </a:xfrm>
            <a:custGeom>
              <a:avLst/>
              <a:gdLst>
                <a:gd name="connsiteX0" fmla="*/ 0 w 1904301"/>
                <a:gd name="connsiteY0" fmla="*/ 0 h 2281805"/>
                <a:gd name="connsiteX1" fmla="*/ 1904301 w 1904301"/>
                <a:gd name="connsiteY1" fmla="*/ 0 h 2281805"/>
                <a:gd name="connsiteX2" fmla="*/ 1904301 w 1904301"/>
                <a:gd name="connsiteY2" fmla="*/ 2281805 h 2281805"/>
                <a:gd name="connsiteX3" fmla="*/ 0 w 1904301"/>
                <a:gd name="connsiteY3" fmla="*/ 2281805 h 2281805"/>
                <a:gd name="connsiteX4" fmla="*/ 0 w 1904301"/>
                <a:gd name="connsiteY4" fmla="*/ 0 h 2281805"/>
                <a:gd name="connsiteX0-1" fmla="*/ 0 w 1904301"/>
                <a:gd name="connsiteY0-2" fmla="*/ 0 h 2281805"/>
                <a:gd name="connsiteX1-3" fmla="*/ 1904301 w 1904301"/>
                <a:gd name="connsiteY1-4" fmla="*/ 0 h 2281805"/>
                <a:gd name="connsiteX2-5" fmla="*/ 1476462 w 1904301"/>
                <a:gd name="connsiteY2-6" fmla="*/ 2281805 h 2281805"/>
                <a:gd name="connsiteX3-7" fmla="*/ 0 w 1904301"/>
                <a:gd name="connsiteY3-8" fmla="*/ 2281805 h 2281805"/>
                <a:gd name="connsiteX4-9" fmla="*/ 0 w 1904301"/>
                <a:gd name="connsiteY4-10" fmla="*/ 0 h 22818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04301" h="2281805">
                  <a:moveTo>
                    <a:pt x="0" y="0"/>
                  </a:moveTo>
                  <a:lnTo>
                    <a:pt x="1904301" y="0"/>
                  </a:lnTo>
                  <a:lnTo>
                    <a:pt x="1476462" y="2281805"/>
                  </a:lnTo>
                  <a:lnTo>
                    <a:pt x="0" y="22818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473014" y="2206304"/>
              <a:ext cx="8719185" cy="22815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0" y="2206304"/>
            <a:ext cx="1904301" cy="2281805"/>
          </a:xfrm>
          <a:custGeom>
            <a:avLst/>
            <a:gdLst>
              <a:gd name="connsiteX0" fmla="*/ 0 w 1904301"/>
              <a:gd name="connsiteY0" fmla="*/ 0 h 2281805"/>
              <a:gd name="connsiteX1" fmla="*/ 1904301 w 1904301"/>
              <a:gd name="connsiteY1" fmla="*/ 0 h 2281805"/>
              <a:gd name="connsiteX2" fmla="*/ 1904301 w 1904301"/>
              <a:gd name="connsiteY2" fmla="*/ 2281805 h 2281805"/>
              <a:gd name="connsiteX3" fmla="*/ 0 w 1904301"/>
              <a:gd name="connsiteY3" fmla="*/ 2281805 h 2281805"/>
              <a:gd name="connsiteX4" fmla="*/ 0 w 1904301"/>
              <a:gd name="connsiteY4" fmla="*/ 0 h 2281805"/>
              <a:gd name="connsiteX0-1" fmla="*/ 0 w 1904301"/>
              <a:gd name="connsiteY0-2" fmla="*/ 0 h 2281805"/>
              <a:gd name="connsiteX1-3" fmla="*/ 1904301 w 1904301"/>
              <a:gd name="connsiteY1-4" fmla="*/ 0 h 2281805"/>
              <a:gd name="connsiteX2-5" fmla="*/ 1476462 w 1904301"/>
              <a:gd name="connsiteY2-6" fmla="*/ 2281805 h 2281805"/>
              <a:gd name="connsiteX3-7" fmla="*/ 0 w 1904301"/>
              <a:gd name="connsiteY3-8" fmla="*/ 2281805 h 2281805"/>
              <a:gd name="connsiteX4-9" fmla="*/ 0 w 1904301"/>
              <a:gd name="connsiteY4-10" fmla="*/ 0 h 22818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04301" h="2281805">
                <a:moveTo>
                  <a:pt x="0" y="0"/>
                </a:moveTo>
                <a:lnTo>
                  <a:pt x="1904301" y="0"/>
                </a:lnTo>
                <a:lnTo>
                  <a:pt x="1476462" y="2281805"/>
                </a:lnTo>
                <a:lnTo>
                  <a:pt x="0" y="2281805"/>
                </a:lnTo>
                <a:lnTo>
                  <a:pt x="0" y="0"/>
                </a:lnTo>
                <a:close/>
              </a:path>
            </a:pathLst>
          </a:cu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38361" y="2664662"/>
            <a:ext cx="2365696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694E5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</a:t>
            </a:r>
            <a:r>
              <a:rPr lang="zh-CN" altLang="en-US" sz="3300" b="1" dirty="0">
                <a:solidFill>
                  <a:srgbClr val="694E57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kumimoji="0" lang="zh-CN" altLang="en-US" sz="3300" b="1" i="0" u="none" strike="noStrike" kern="1200" cap="none" spc="0" normalizeH="0" baseline="0" noProof="0" dirty="0">
              <a:ln>
                <a:noFill/>
              </a:ln>
              <a:solidFill>
                <a:srgbClr val="694E5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38400" y="3332480"/>
            <a:ext cx="911733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探析物联系统中的数据传输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986405" y="764540"/>
            <a:ext cx="6551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：说一说共享单车的使用过程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55" y="2841942"/>
            <a:ext cx="991235" cy="27882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863" y="2945129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6886"/>
          <a:stretch>
            <a:fillRect/>
          </a:stretch>
        </p:blipFill>
        <p:spPr>
          <a:xfrm>
            <a:off x="5099135" y="2948054"/>
            <a:ext cx="3013710" cy="2581910"/>
          </a:xfrm>
          <a:prstGeom prst="roundRect">
            <a:avLst>
              <a:gd name="adj" fmla="val 6726"/>
            </a:avLst>
          </a:prstGeom>
        </p:spPr>
      </p:pic>
      <p:grpSp>
        <p:nvGrpSpPr>
          <p:cNvPr id="18" name="组合 17"/>
          <p:cNvGrpSpPr/>
          <p:nvPr/>
        </p:nvGrpSpPr>
        <p:grpSpPr>
          <a:xfrm>
            <a:off x="8276590" y="2929890"/>
            <a:ext cx="3124200" cy="2582074"/>
            <a:chOff x="13034" y="4614"/>
            <a:chExt cx="4920" cy="406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rcRect l="6211" r="29189"/>
            <a:stretch>
              <a:fillRect/>
            </a:stretch>
          </p:blipFill>
          <p:spPr>
            <a:xfrm>
              <a:off x="13034" y="4614"/>
              <a:ext cx="4920" cy="4066"/>
            </a:xfrm>
            <a:prstGeom prst="roundRect">
              <a:avLst>
                <a:gd name="adj" fmla="val 8590"/>
              </a:avLst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rcRect b="23993"/>
            <a:stretch>
              <a:fillRect/>
            </a:stretch>
          </p:blipFill>
          <p:spPr>
            <a:xfrm>
              <a:off x="13350" y="5889"/>
              <a:ext cx="1817" cy="2791"/>
            </a:xfrm>
            <a:prstGeom prst="rect">
              <a:avLst/>
            </a:prstGeom>
          </p:spPr>
        </p:pic>
      </p:grpSp>
      <p:sp>
        <p:nvSpPr>
          <p:cNvPr id="19" name="Rounded Rectangle 18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互动：同桌说使用步骤（20秒）→ 请1人汇报 → 收成：找车｜扫码开锁｜骑行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6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532" y="3389263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 descr="卡通人物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6" name="图片 5" descr="图示&#10;&#10;描述已自动生成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14" name="图片 13" descr="图示&#10;&#10;描述已自动生成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20" name="图片 19" descr="图示&#10;&#10;描述已自动生成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V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245522" y="3350528"/>
            <a:ext cx="8178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?</a:t>
            </a:r>
          </a:p>
        </p:txBody>
      </p:sp>
      <p:cxnSp>
        <p:nvCxnSpPr>
          <p:cNvPr id="23" name="直接箭头连接符 22"/>
          <p:cNvCxnSpPr>
            <a:endCxn id="10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上传位置数据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8963025" y="4983480"/>
            <a:ext cx="341630" cy="499745"/>
            <a:chOff x="12314" y="-3585"/>
            <a:chExt cx="1198" cy="1750"/>
          </a:xfrm>
        </p:grpSpPr>
        <p:sp>
          <p:nvSpPr>
            <p:cNvPr id="28" name="椭圆 27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2785" y="-2549"/>
              <a:ext cx="257" cy="71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" name="Rounded Rectangle 56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先问：车的位置数据从哪来？手机怎么拿到附近车辆？→ 再点出4G/5G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50" grpId="0"/>
      <p:bldP spid="5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532" y="3389263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 descr="卡通人物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6" name="图片 5" descr="图示&#10;&#10;描述已自动生成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14" name="图片 13" descr="图示&#10;&#10;描述已自动生成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20" name="图片 19" descr="图示&#10;&#10;描述已自动生成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V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0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上传位置数据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>
            <a:off x="5730904" y="3270692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215745" y="2399933"/>
            <a:ext cx="31724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超低功耗、信号稳定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传输距离远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endParaRPr lang="zh-CN" altLang="en-US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8963025" y="4983480"/>
            <a:ext cx="341630" cy="499745"/>
            <a:chOff x="12314" y="-3585"/>
            <a:chExt cx="1198" cy="1750"/>
          </a:xfrm>
        </p:grpSpPr>
        <p:sp>
          <p:nvSpPr>
            <p:cNvPr id="24" name="椭圆 23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2785" y="-2549"/>
              <a:ext cx="257" cy="71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670290" y="4888230"/>
            <a:ext cx="288290" cy="288925"/>
            <a:chOff x="12314" y="-3585"/>
            <a:chExt cx="1198" cy="1198"/>
          </a:xfrm>
        </p:grpSpPr>
        <p:sp>
          <p:nvSpPr>
            <p:cNvPr id="30" name="椭圆 29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039225" y="5594985"/>
            <a:ext cx="288290" cy="288925"/>
            <a:chOff x="12314" y="-3585"/>
            <a:chExt cx="1198" cy="1198"/>
          </a:xfrm>
        </p:grpSpPr>
        <p:sp>
          <p:nvSpPr>
            <p:cNvPr id="34" name="椭圆 33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7" name="Rounded Rectangle 56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对照：手机要快；单车要省电、常在线、传小数据 → NB-IoT（省电长跑）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7A6F"/>
                </a:solidFill>
                <a:latin typeface="Microsoft YaHei"/>
              </a:rPr>
              <a:t>人话：省电长跑通道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rcRect l="6886"/>
          <a:stretch>
            <a:fillRect/>
          </a:stretch>
        </p:blipFill>
        <p:spPr>
          <a:xfrm>
            <a:off x="7762240" y="3414395"/>
            <a:ext cx="3013710" cy="2581910"/>
          </a:xfrm>
          <a:prstGeom prst="round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3" name="图片 2" descr="图示&#10;&#10;描述已自动生成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36" name="图片 35" descr="图示&#10;&#10;描述已自动生成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40" name="图片 39" descr="图示&#10;&#10;描述已自动生成"/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>
          <a:xfrm flipH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7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发送开锁请求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34415" y="2399665"/>
            <a:ext cx="335407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发送开锁指令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互说：开锁“请求”走手机网；开锁“指令”走NB-IoT（12秒）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45" grpId="0"/>
      <p:bldP spid="4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24"/>
          <a:srcRect l="6886"/>
          <a:stretch>
            <a:fillRect/>
          </a:stretch>
        </p:blipFill>
        <p:spPr>
          <a:xfrm>
            <a:off x="7762240" y="3414395"/>
            <a:ext cx="3013710" cy="2581910"/>
          </a:xfrm>
          <a:prstGeom prst="round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3" name="图片 2" descr="图示&#10;&#10;描述已自动生成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7" name="矩形 6"/>
            <p:cNvSpPr/>
            <p:nvPr>
              <p:custDataLst>
                <p:tags r:id="rId21"/>
              </p:custDataLst>
            </p:nvPr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36" name="图片 35" descr="图示&#10;&#10;描述已自动生成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37" name="矩形 36"/>
            <p:cNvSpPr/>
            <p:nvPr>
              <p:custDataLst>
                <p:tags r:id="rId19"/>
              </p:custDataLst>
            </p:nvPr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38" name="组合 37"/>
          <p:cNvGrpSpPr/>
          <p:nvPr>
            <p:custDataLst>
              <p:tags r:id="rId3"/>
            </p:custDataLst>
          </p:nvPr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40" name="图片 39" descr="图示&#10;&#10;描述已自动生成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41" name="矩形 40"/>
            <p:cNvSpPr/>
            <p:nvPr>
              <p:custDataLst>
                <p:tags r:id="rId17"/>
              </p:custDataLst>
            </p:nvPr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42" name="直接箭头连接符 41"/>
          <p:cNvCxnSpPr/>
          <p:nvPr>
            <p:custDataLst>
              <p:tags r:id="rId4"/>
            </p:custDataLst>
          </p:nvPr>
        </p:nvCxnSpPr>
        <p:spPr>
          <a:xfrm flipH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7" idx="3"/>
          </p:cNvCxnSpPr>
          <p:nvPr>
            <p:custDataLst>
              <p:tags r:id="rId5"/>
            </p:custDataLst>
          </p:nvPr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发送开锁请求</a:t>
            </a: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1034415" y="2399665"/>
            <a:ext cx="335407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发送开锁指令</a:t>
            </a:r>
          </a:p>
        </p:txBody>
      </p: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5984240" y="3556635"/>
            <a:ext cx="1056640" cy="618490"/>
            <a:chOff x="3516" y="4754"/>
            <a:chExt cx="1664" cy="974"/>
          </a:xfrm>
        </p:grpSpPr>
        <p:grpSp>
          <p:nvGrpSpPr>
            <p:cNvPr id="33" name="组合 32"/>
            <p:cNvGrpSpPr/>
            <p:nvPr/>
          </p:nvGrpSpPr>
          <p:grpSpPr>
            <a:xfrm>
              <a:off x="3516" y="4812"/>
              <a:ext cx="806" cy="758"/>
              <a:chOff x="3841" y="-1240"/>
              <a:chExt cx="806" cy="758"/>
            </a:xfrm>
            <a:solidFill>
              <a:schemeClr val="bg1"/>
            </a:solidFill>
          </p:grpSpPr>
          <p:sp>
            <p:nvSpPr>
              <p:cNvPr id="30" name="矩形 29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41" y="-838"/>
                <a:ext cx="212" cy="357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>
                <p:custDataLst>
                  <p:tags r:id="rId14"/>
                </p:custDataLst>
              </p:nvPr>
            </p:nvSpPr>
            <p:spPr>
              <a:xfrm>
                <a:off x="4138" y="-1018"/>
                <a:ext cx="212" cy="537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>
                <p:custDataLst>
                  <p:tags r:id="rId15"/>
                </p:custDataLst>
              </p:nvPr>
            </p:nvSpPr>
            <p:spPr>
              <a:xfrm>
                <a:off x="4435" y="-1240"/>
                <a:ext cx="212" cy="759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乘号 28"/>
            <p:cNvSpPr/>
            <p:nvPr>
              <p:custDataLst>
                <p:tags r:id="rId12"/>
              </p:custDataLst>
            </p:nvPr>
          </p:nvSpPr>
          <p:spPr>
            <a:xfrm>
              <a:off x="4206" y="4754"/>
              <a:ext cx="974" cy="974"/>
            </a:xfrm>
            <a:prstGeom prst="mathMultiply">
              <a:avLst>
                <a:gd name="adj1" fmla="val 15092"/>
              </a:avLst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卡通人物&#10;&#10;描述已自动生成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4053809" y="3755526"/>
            <a:ext cx="2368581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蓝牙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无网络、短距离</a:t>
            </a:r>
            <a:endParaRPr lang="en-US" altLang="zh-CN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小数据量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endParaRPr lang="zh-CN" altLang="en-US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10"/>
            </p:custDataLst>
          </p:nvPr>
        </p:nvCxnSpPr>
        <p:spPr>
          <a:xfrm flipH="1">
            <a:off x="3595407" y="5275139"/>
            <a:ext cx="3204845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cxnSp>
        <p:nvCxnSpPr>
          <p:cNvPr id="2" name="直接箭头连接符 1"/>
          <p:cNvCxnSpPr/>
          <p:nvPr>
            <p:custDataLst>
              <p:tags r:id="rId11"/>
            </p:custDataLst>
          </p:nvPr>
        </p:nvCxnSpPr>
        <p:spPr>
          <a:xfrm>
            <a:off x="3595407" y="5406437"/>
            <a:ext cx="3204845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追问：信号差/无网怎么办？→ 蓝牙：贴身短距、小数据、辅助开锁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45C26"/>
                </a:solidFill>
                <a:latin typeface="Microsoft YaHei"/>
              </a:rPr>
              <a:t>人话：贴身短距通道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/>
      <p:bldP spid="45" grpId="1"/>
      <p:bldP spid="28" grpId="0"/>
      <p:bldP spid="2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31355" y="4455795"/>
            <a:ext cx="47269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通常为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蓝牙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 Cat.1</a:t>
            </a:r>
            <a:endParaRPr lang="zh-CN" altLang="en-US" sz="2400" dirty="0">
              <a:solidFill>
                <a:srgbClr val="2E4C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5965" y="4868545"/>
            <a:ext cx="3352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核心部件</a:t>
            </a:r>
            <a:r>
              <a:rPr lang="en-US" altLang="zh-CN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智能车锁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27574" y="2239645"/>
            <a:ext cx="48310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微控制器：用于控制整个智能锁</a:t>
            </a:r>
          </a:p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电池：为智能锁供电</a:t>
            </a:r>
          </a:p>
          <a:p>
            <a:pPr algn="l">
              <a:lnSpc>
                <a:spcPct val="200000"/>
              </a:lnSpc>
            </a:pPr>
            <a:r>
              <a:rPr lang="en-US" altLang="zh-CN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GPS</a:t>
            </a: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模块：定位</a:t>
            </a:r>
          </a:p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数据传输模块：</a:t>
            </a:r>
          </a:p>
        </p:txBody>
      </p:sp>
      <p:pic>
        <p:nvPicPr>
          <p:cNvPr id="5" name="图片 4" descr="生成共享单车车锁图片"/>
          <p:cNvPicPr>
            <a:picLocks noChangeAspect="1"/>
          </p:cNvPicPr>
          <p:nvPr/>
        </p:nvPicPr>
        <p:blipFill>
          <a:blip r:embed="rId3"/>
          <a:srcRect l="10040" t="11157" r="4831" b="7066"/>
          <a:stretch>
            <a:fillRect/>
          </a:stretch>
        </p:blipFill>
        <p:spPr>
          <a:xfrm>
            <a:off x="1012190" y="2118360"/>
            <a:ext cx="2800350" cy="26898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收口齐答：一种方式不够，多种方式配合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4A"/>
                </a:solidFill>
                <a:latin typeface="Microsoft YaHei"/>
              </a:rPr>
              <a:t>学习任务（20分钟·任务1+2）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任务1：说清共享单车使用过程（找车→开锁→骑行）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任务2：分析过程中的数据传输（4G/5G、NB-IoT、蓝牙）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/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核心问题：数据怎么“旅行”？为什么传输方式要“多”？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/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说明：分类总图（原第11页）属于活动二，本节不上。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导入后亮本页｜约30秒｜让学生知道今天要完成两件事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4A"/>
                </a:solidFill>
                <a:latin typeface="Microsoft YaHei"/>
              </a:rPr>
              <a:t>AI融入：三方对话（不是做题）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请AI扮演“车锁”，一位同学扮演“手机”，老师扮演“服务器”。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只演一个小片段：找车 或 开锁（选一个，控制在1分钟内）。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/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示例开场（可投给AI）：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你是共享单车智能锁，用第一人称，每次只说一句很短的话，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说说你怎样用NB-IoT把位置告诉服务器；不要写成选择题。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/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全班听完后补充/纠正：这条数据走的是哪条通道？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建议插在任务2“找车揭晓后”或“开锁后”｜失败则跳过，不影响主线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A4A"/>
                </a:solidFill>
                <a:latin typeface="Microsoft YaHei"/>
              </a:rPr>
              <a:t>小结（任务1+2）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任务1：使用过程——找车 → 扫码开锁 → 骑行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任务2：传输分工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  · 手机↔服务器：4G/5G（高速）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  · 单车↔服务器：NB-IoT（省电长跑）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  · 手机↔车锁补位：蓝牙（贴身短距）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/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3A4A"/>
                </a:solidFill>
                <a:latin typeface="Microsoft YaHei"/>
              </a:rPr>
              <a:t>一句话：一种不够，多种配合（看距离、功耗、场景）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6263640"/>
            <a:ext cx="11521440" cy="502920"/>
          </a:xfrm>
          <a:prstGeom prst="roundRect">
            <a:avLst/>
          </a:prstGeom>
          <a:solidFill>
            <a:srgbClr val="E8F5F2"/>
          </a:solidFill>
          <a:ln>
            <a:solidFill>
              <a:srgbClr val="B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1A3A4A"/>
                </a:solidFill>
                <a:latin typeface="Microsoft YaHei"/>
              </a:rPr>
              <a:t>齐读结论｜可接课后思考句，不展开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JmZGI1NTVhZWQyN2Y4MmJkMDUxYjhlNDYxYWY5YTUifQ=="/>
  <p:tag name="RESOURCE_RECORD_KEY" val="{&quot;10&quot;:[21548379,21548530,21560654,21579551,20183404,21558200,20251177,2159636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367.95,&quot;top&quot;:170.3,&quot;width&quot;:487.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796</Words>
  <Application>Microsoft Office PowerPoint</Application>
  <PresentationFormat>宽屏</PresentationFormat>
  <Paragraphs>174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Calibri</vt:lpstr>
      <vt:lpstr>等线</vt:lpstr>
      <vt:lpstr>黑体</vt:lpstr>
      <vt:lpstr>华文楷体</vt:lpstr>
      <vt:lpstr>楷体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声  明</vt:lpstr>
      <vt:lpstr>上海市基础教育数字化转型项目组 （初中信息科技）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陈伟玲</dc:creator>
  <cp:lastModifiedBy>静 谢</cp:lastModifiedBy>
  <cp:revision>1257</cp:revision>
  <cp:lastPrinted>2023-11-28T07:31:00Z</cp:lastPrinted>
  <dcterms:created xsi:type="dcterms:W3CDTF">2020-02-05T11:17:00Z</dcterms:created>
  <dcterms:modified xsi:type="dcterms:W3CDTF">2025-09-28T15:22:38Z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D8653281B530421E8DE3E4963D52EA6C_13</vt:lpwstr>
  </property>
  <property fmtid="{D5CDD505-2E9C-101B-9397-08002B2CF9AE}" pid="3" name="KSOProductBuildVer">
    <vt:lpwstr>2052-12.1.0.22529</vt:lpwstr>
  </property>
</Properties>
</file>