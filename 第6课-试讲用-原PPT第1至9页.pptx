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593" r:id="rId2"/>
    <p:sldId id="520" r:id="rId3"/>
    <p:sldId id="595" r:id="rId4"/>
    <p:sldId id="597" r:id="rId5"/>
    <p:sldId id="625" r:id="rId6"/>
    <p:sldId id="645" r:id="rId7"/>
    <p:sldId id="640" r:id="rId8"/>
    <p:sldId id="647" r:id="rId9"/>
    <p:sldId id="648" r:id="rId10"/>
  </p:sldIdLst>
  <p:sldSz cx="12192000" cy="6858000"/>
  <p:notesSz cx="6858000" cy="9144000"/>
  <p:custDataLst>
    <p:tags r:id="rId2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71" userDrawn="1">
          <p15:clr>
            <a:srgbClr val="A4A3A4"/>
          </p15:clr>
        </p15:guide>
        <p15:guide id="2" pos="599" userDrawn="1">
          <p15:clr>
            <a:srgbClr val="A4A3A4"/>
          </p15:clr>
        </p15:guide>
        <p15:guide id="3" pos="6878" userDrawn="1">
          <p15:clr>
            <a:srgbClr val="A4A3A4"/>
          </p15:clr>
        </p15:guide>
        <p15:guide id="4" orient="horz" pos="4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643"/>
    <a:srgbClr val="2E4C64"/>
    <a:srgbClr val="007AFC"/>
    <a:srgbClr val="95C7FA"/>
    <a:srgbClr val="F6F6F6"/>
    <a:srgbClr val="711000"/>
    <a:srgbClr val="1784AD"/>
    <a:srgbClr val="014E6A"/>
    <a:srgbClr val="F7F7F7"/>
    <a:srgbClr val="A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581" autoAdjust="0"/>
  </p:normalViewPr>
  <p:slideViewPr>
    <p:cSldViewPr snapToGrid="0" showGuides="1">
      <p:cViewPr varScale="1">
        <p:scale>
          <a:sx n="76" d="100"/>
          <a:sy n="76" d="100"/>
        </p:scale>
        <p:origin x="651" y="48"/>
      </p:cViewPr>
      <p:guideLst>
        <p:guide orient="horz" pos="3771"/>
        <p:guide pos="599"/>
        <p:guide pos="6878"/>
        <p:guide orient="horz" pos="48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7344"/>
    </p:cViewPr>
  </p:sorterViewPr>
  <p:notesViewPr>
    <p:cSldViewPr snapToGrid="0">
      <p:cViewPr varScale="1">
        <p:scale>
          <a:sx n="57" d="100"/>
          <a:sy n="57" d="100"/>
        </p:scale>
        <p:origin x="2832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tags" Target="tags/tag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57FE95A-1FF0-4568-8F86-0FE691715E69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9E2DF19-391F-414E-AF3C-23BFC169676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E5F7B05-4B96-4F5F-B806-D99396CD7062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43CA2E4-3BFE-4860-AB78-7DBE9632C95C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540E3B-F9C0-48B6-A129-4D327DD30658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24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470F777-8F76-4E58-967D-78AFCC084C0E}" type="slidenum">
              <a:rPr lang="zh-CN" altLang="en-US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304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200" dirty="0">
              <a:solidFill>
                <a:schemeClr val="tx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540E3B-F9C0-48B6-A129-4D327DD306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2830513"/>
            <a:ext cx="4095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8E0DF-3665-4C20-8C85-D72E0A04F139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161F31-3451-4657-A1A5-E6152D5CC02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431800" y="365125"/>
            <a:ext cx="2133600" cy="71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9456234" y="256478"/>
            <a:ext cx="2453268" cy="512956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500839" y="345688"/>
            <a:ext cx="2297151" cy="401444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2B0652C-902F-46F1-BD6C-9E4BF38181EB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FB6B509-FCD0-4EBA-ABA3-F8A4EF0D028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tags" Target="../tags/tag9.xml"/><Relationship Id="rId9" Type="http://schemas.openxmlformats.org/officeDocument/2006/relationships/tags" Target="../tags/tag10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jpeg"/><Relationship Id="rId5" Type="http://schemas.openxmlformats.org/officeDocument/2006/relationships/image" Target="../media/image11.png"/><Relationship Id="rId6" Type="http://schemas.openxmlformats.org/officeDocument/2006/relationships/image" Target="../media/image12.jpe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tags" Target="../tags/tag15.xml"/><Relationship Id="rId6" Type="http://schemas.openxmlformats.org/officeDocument/2006/relationships/tags" Target="../tags/tag16.xml"/><Relationship Id="rId7" Type="http://schemas.openxmlformats.org/officeDocument/2006/relationships/tags" Target="../tags/tag17.xml"/><Relationship Id="rId8" Type="http://schemas.openxmlformats.org/officeDocument/2006/relationships/tags" Target="../tags/tag18.xml"/><Relationship Id="rId9" Type="http://schemas.openxmlformats.org/officeDocument/2006/relationships/tags" Target="../tags/tag19.xml"/><Relationship Id="rId10" Type="http://schemas.openxmlformats.org/officeDocument/2006/relationships/tags" Target="../tags/tag20.xml"/><Relationship Id="rId11" Type="http://schemas.openxmlformats.org/officeDocument/2006/relationships/tags" Target="../tags/tag21.xml"/><Relationship Id="rId12" Type="http://schemas.openxmlformats.org/officeDocument/2006/relationships/tags" Target="../tags/tag22.xml"/><Relationship Id="rId13" Type="http://schemas.openxmlformats.org/officeDocument/2006/relationships/tags" Target="../tags/tag23.xml"/><Relationship Id="rId14" Type="http://schemas.openxmlformats.org/officeDocument/2006/relationships/tags" Target="../tags/tag24.xml"/><Relationship Id="rId15" Type="http://schemas.openxmlformats.org/officeDocument/2006/relationships/tags" Target="../tags/tag25.xml"/><Relationship Id="rId16" Type="http://schemas.openxmlformats.org/officeDocument/2006/relationships/tags" Target="../tags/tag26.xml"/><Relationship Id="rId17" Type="http://schemas.openxmlformats.org/officeDocument/2006/relationships/tags" Target="../tags/tag27.xml"/><Relationship Id="rId18" Type="http://schemas.openxmlformats.org/officeDocument/2006/relationships/tags" Target="../tags/tag28.xml"/><Relationship Id="rId19" Type="http://schemas.openxmlformats.org/officeDocument/2006/relationships/tags" Target="../tags/tag29.xml"/><Relationship Id="rId20" Type="http://schemas.openxmlformats.org/officeDocument/2006/relationships/tags" Target="../tags/tag30.xml"/><Relationship Id="rId21" Type="http://schemas.openxmlformats.org/officeDocument/2006/relationships/tags" Target="../tags/tag31.xml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8.xml"/><Relationship Id="rId24" Type="http://schemas.openxmlformats.org/officeDocument/2006/relationships/image" Target="../media/image6.png"/><Relationship Id="rId25" Type="http://schemas.openxmlformats.org/officeDocument/2006/relationships/image" Target="../media/image10.jpeg"/><Relationship Id="rId26" Type="http://schemas.openxmlformats.org/officeDocument/2006/relationships/image" Target="../media/image11.png"/><Relationship Id="rId27" Type="http://schemas.openxmlformats.org/officeDocument/2006/relationships/image" Target="../media/image12.jpeg"/><Relationship Id="rId28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2306955" y="2044065"/>
            <a:ext cx="7424420" cy="85217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数据传输方式多</a:t>
            </a:r>
          </a:p>
        </p:txBody>
      </p:sp>
      <p:sp>
        <p:nvSpPr>
          <p:cNvPr id="6" name="副标题 2"/>
          <p:cNvSpPr txBox="1"/>
          <p:nvPr/>
        </p:nvSpPr>
        <p:spPr>
          <a:xfrm>
            <a:off x="1667510" y="3503295"/>
            <a:ext cx="9534525" cy="11061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年    级：八年级                   学    科：</a:t>
            </a:r>
            <a:r>
              <a:rPr lang="zh-CN" altLang="en-US" sz="2800" dirty="0">
                <a:solidFill>
                  <a:prstClr val="white"/>
                </a:solidFill>
              </a:rPr>
              <a:t>信息科技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78155" y="1001395"/>
            <a:ext cx="5618480" cy="873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数据传输方式多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2E4C6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175552" y="4297045"/>
            <a:ext cx="5461000" cy="540257"/>
            <a:chOff x="996174" y="2188583"/>
            <a:chExt cx="5312149" cy="540000"/>
          </a:xfrm>
        </p:grpSpPr>
        <p:grpSp>
          <p:nvGrpSpPr>
            <p:cNvPr id="3" name="组合 2"/>
            <p:cNvGrpSpPr/>
            <p:nvPr/>
          </p:nvGrpSpPr>
          <p:grpSpPr>
            <a:xfrm>
              <a:off x="996174" y="2188583"/>
              <a:ext cx="5312149" cy="540000"/>
              <a:chOff x="1635965" y="1686127"/>
              <a:chExt cx="5918164" cy="601602"/>
            </a:xfrm>
          </p:grpSpPr>
          <p:sp>
            <p:nvSpPr>
              <p:cNvPr id="4" name="圆角矩形 18"/>
              <p:cNvSpPr/>
              <p:nvPr>
                <p:custDataLst>
                  <p:tags r:id="rId8"/>
                </p:custDataLst>
              </p:nvPr>
            </p:nvSpPr>
            <p:spPr>
              <a:xfrm>
                <a:off x="1852735" y="1729967"/>
                <a:ext cx="5701394" cy="528206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矩形 4"/>
              <p:cNvSpPr/>
              <p:nvPr>
                <p:custDataLst>
                  <p:tags r:id="rId9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085122" y="2227300"/>
              <a:ext cx="4990332" cy="460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    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生活中有哪些数据传输的方式？</a:t>
              </a:r>
            </a:p>
          </p:txBody>
        </p:sp>
      </p:grp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1175552" y="2889250"/>
            <a:ext cx="5461000" cy="539750"/>
            <a:chOff x="4439" y="3920"/>
            <a:chExt cx="8600" cy="850"/>
          </a:xfrm>
        </p:grpSpPr>
        <p:grpSp>
          <p:nvGrpSpPr>
            <p:cNvPr id="9" name="组合 8"/>
            <p:cNvGrpSpPr/>
            <p:nvPr>
              <p:custDataLst>
                <p:tags r:id="rId3"/>
              </p:custDataLst>
            </p:nvPr>
          </p:nvGrpSpPr>
          <p:grpSpPr>
            <a:xfrm>
              <a:off x="4439" y="3920"/>
              <a:ext cx="8600" cy="850"/>
              <a:chOff x="7529" y="2240"/>
              <a:chExt cx="8600" cy="850"/>
            </a:xfrm>
          </p:grpSpPr>
          <p:sp>
            <p:nvSpPr>
              <p:cNvPr id="10" name="圆角矩形 28"/>
              <p:cNvSpPr/>
              <p:nvPr>
                <p:custDataLst>
                  <p:tags r:id="rId5"/>
                </p:custDataLst>
              </p:nvPr>
            </p:nvSpPr>
            <p:spPr>
              <a:xfrm>
                <a:off x="7844" y="2302"/>
                <a:ext cx="8285" cy="747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矩形 10"/>
              <p:cNvSpPr/>
              <p:nvPr>
                <p:custDataLst>
                  <p:tags r:id="rId6"/>
                </p:custDataLst>
              </p:nvPr>
            </p:nvSpPr>
            <p:spPr>
              <a:xfrm rot="18614181">
                <a:off x="7541" y="2228"/>
                <a:ext cx="850" cy="874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4584" y="4010"/>
              <a:ext cx="8455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4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      </a:t>
              </a:r>
              <a:r>
                <a:rPr lang="zh-CN" altLang="en-US" sz="24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物联系统中数据是怎样传输的？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761689" y="2206304"/>
            <a:ext cx="10430510" cy="2281805"/>
            <a:chOff x="1761689" y="2206304"/>
            <a:chExt cx="10430510" cy="2281805"/>
          </a:xfrm>
          <a:solidFill>
            <a:schemeClr val="bg1">
              <a:lumMod val="75000"/>
            </a:schemeClr>
          </a:solidFill>
        </p:grpSpPr>
        <p:sp>
          <p:nvSpPr>
            <p:cNvPr id="9" name="矩形 1"/>
            <p:cNvSpPr/>
            <p:nvPr/>
          </p:nvSpPr>
          <p:spPr>
            <a:xfrm rot="10800000">
              <a:off x="1761689" y="2206304"/>
              <a:ext cx="1904301" cy="2281805"/>
            </a:xfrm>
            <a:custGeom>
              <a:avLst/>
              <a:gdLst>
                <a:gd name="connsiteX0" fmla="*/ 0 w 1904301"/>
                <a:gd name="connsiteY0" fmla="*/ 0 h 2281805"/>
                <a:gd name="connsiteX1" fmla="*/ 1904301 w 1904301"/>
                <a:gd name="connsiteY1" fmla="*/ 0 h 2281805"/>
                <a:gd name="connsiteX2" fmla="*/ 1904301 w 1904301"/>
                <a:gd name="connsiteY2" fmla="*/ 2281805 h 2281805"/>
                <a:gd name="connsiteX3" fmla="*/ 0 w 1904301"/>
                <a:gd name="connsiteY3" fmla="*/ 2281805 h 2281805"/>
                <a:gd name="connsiteX4" fmla="*/ 0 w 1904301"/>
                <a:gd name="connsiteY4" fmla="*/ 0 h 2281805"/>
                <a:gd name="connsiteX0-1" fmla="*/ 0 w 1904301"/>
                <a:gd name="connsiteY0-2" fmla="*/ 0 h 2281805"/>
                <a:gd name="connsiteX1-3" fmla="*/ 1904301 w 1904301"/>
                <a:gd name="connsiteY1-4" fmla="*/ 0 h 2281805"/>
                <a:gd name="connsiteX2-5" fmla="*/ 1476462 w 1904301"/>
                <a:gd name="connsiteY2-6" fmla="*/ 2281805 h 2281805"/>
                <a:gd name="connsiteX3-7" fmla="*/ 0 w 1904301"/>
                <a:gd name="connsiteY3-8" fmla="*/ 2281805 h 2281805"/>
                <a:gd name="connsiteX4-9" fmla="*/ 0 w 1904301"/>
                <a:gd name="connsiteY4-10" fmla="*/ 0 h 228180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904301" h="2281805">
                  <a:moveTo>
                    <a:pt x="0" y="0"/>
                  </a:moveTo>
                  <a:lnTo>
                    <a:pt x="1904301" y="0"/>
                  </a:lnTo>
                  <a:lnTo>
                    <a:pt x="1476462" y="2281805"/>
                  </a:lnTo>
                  <a:lnTo>
                    <a:pt x="0" y="228180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473014" y="2206304"/>
              <a:ext cx="8719185" cy="22815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0" y="2206304"/>
            <a:ext cx="1904301" cy="2281805"/>
          </a:xfrm>
          <a:custGeom>
            <a:avLst/>
            <a:gdLst>
              <a:gd name="connsiteX0" fmla="*/ 0 w 1904301"/>
              <a:gd name="connsiteY0" fmla="*/ 0 h 2281805"/>
              <a:gd name="connsiteX1" fmla="*/ 1904301 w 1904301"/>
              <a:gd name="connsiteY1" fmla="*/ 0 h 2281805"/>
              <a:gd name="connsiteX2" fmla="*/ 1904301 w 1904301"/>
              <a:gd name="connsiteY2" fmla="*/ 2281805 h 2281805"/>
              <a:gd name="connsiteX3" fmla="*/ 0 w 1904301"/>
              <a:gd name="connsiteY3" fmla="*/ 2281805 h 2281805"/>
              <a:gd name="connsiteX4" fmla="*/ 0 w 1904301"/>
              <a:gd name="connsiteY4" fmla="*/ 0 h 2281805"/>
              <a:gd name="connsiteX0-1" fmla="*/ 0 w 1904301"/>
              <a:gd name="connsiteY0-2" fmla="*/ 0 h 2281805"/>
              <a:gd name="connsiteX1-3" fmla="*/ 1904301 w 1904301"/>
              <a:gd name="connsiteY1-4" fmla="*/ 0 h 2281805"/>
              <a:gd name="connsiteX2-5" fmla="*/ 1476462 w 1904301"/>
              <a:gd name="connsiteY2-6" fmla="*/ 2281805 h 2281805"/>
              <a:gd name="connsiteX3-7" fmla="*/ 0 w 1904301"/>
              <a:gd name="connsiteY3-8" fmla="*/ 2281805 h 2281805"/>
              <a:gd name="connsiteX4-9" fmla="*/ 0 w 1904301"/>
              <a:gd name="connsiteY4-10" fmla="*/ 0 h 22818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904301" h="2281805">
                <a:moveTo>
                  <a:pt x="0" y="0"/>
                </a:moveTo>
                <a:lnTo>
                  <a:pt x="1904301" y="0"/>
                </a:lnTo>
                <a:lnTo>
                  <a:pt x="1476462" y="2281805"/>
                </a:lnTo>
                <a:lnTo>
                  <a:pt x="0" y="2281805"/>
                </a:lnTo>
                <a:lnTo>
                  <a:pt x="0" y="0"/>
                </a:lnTo>
                <a:close/>
              </a:path>
            </a:pathLst>
          </a:custGeom>
          <a:solidFill>
            <a:srgbClr val="3B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38361" y="2664662"/>
            <a:ext cx="2365696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694E5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</a:t>
            </a:r>
            <a:r>
              <a:rPr lang="zh-CN" altLang="en-US" sz="3300" b="1" dirty="0">
                <a:solidFill>
                  <a:srgbClr val="694E57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endParaRPr kumimoji="0" lang="zh-CN" altLang="en-US" sz="3300" b="1" i="0" u="none" strike="noStrike" kern="1200" cap="none" spc="0" normalizeH="0" baseline="0" noProof="0" dirty="0">
              <a:ln>
                <a:noFill/>
              </a:ln>
              <a:solidFill>
                <a:srgbClr val="694E5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38400" y="3332480"/>
            <a:ext cx="9117330" cy="838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E4C6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探析物联系统中的数据传输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986405" y="764540"/>
            <a:ext cx="6551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：说一说共享单车的使用过程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55" y="2841942"/>
            <a:ext cx="991235" cy="27882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863" y="2945129"/>
            <a:ext cx="2873375" cy="2581910"/>
          </a:xfrm>
          <a:prstGeom prst="roundRect">
            <a:avLst>
              <a:gd name="adj" fmla="val 6357"/>
            </a:avLst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6886"/>
          <a:stretch>
            <a:fillRect/>
          </a:stretch>
        </p:blipFill>
        <p:spPr>
          <a:xfrm>
            <a:off x="5099135" y="2948054"/>
            <a:ext cx="3013710" cy="2581910"/>
          </a:xfrm>
          <a:prstGeom prst="roundRect">
            <a:avLst>
              <a:gd name="adj" fmla="val 6726"/>
            </a:avLst>
          </a:prstGeom>
        </p:spPr>
      </p:pic>
      <p:grpSp>
        <p:nvGrpSpPr>
          <p:cNvPr id="18" name="组合 17"/>
          <p:cNvGrpSpPr/>
          <p:nvPr/>
        </p:nvGrpSpPr>
        <p:grpSpPr>
          <a:xfrm>
            <a:off x="8276590" y="2929890"/>
            <a:ext cx="3124200" cy="2582074"/>
            <a:chOff x="13034" y="4614"/>
            <a:chExt cx="4920" cy="406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rcRect l="6211" r="29189"/>
            <a:stretch>
              <a:fillRect/>
            </a:stretch>
          </p:blipFill>
          <p:spPr>
            <a:xfrm>
              <a:off x="13034" y="4614"/>
              <a:ext cx="4920" cy="4066"/>
            </a:xfrm>
            <a:prstGeom prst="roundRect">
              <a:avLst>
                <a:gd name="adj" fmla="val 8590"/>
              </a:avLst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7"/>
            <a:srcRect b="23993"/>
            <a:stretch>
              <a:fillRect/>
            </a:stretch>
          </p:blipFill>
          <p:spPr>
            <a:xfrm>
              <a:off x="13350" y="5889"/>
              <a:ext cx="1817" cy="279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3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6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532" y="3389263"/>
            <a:ext cx="2873375" cy="2581910"/>
          </a:xfrm>
          <a:prstGeom prst="roundRect">
            <a:avLst>
              <a:gd name="adj" fmla="val 6357"/>
            </a:avLst>
          </a:prstGeom>
        </p:spPr>
      </p:pic>
      <p:pic>
        <p:nvPicPr>
          <p:cNvPr id="3" name="图片 2" descr="卡通人物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81" y="3636010"/>
            <a:ext cx="918845" cy="247269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6" name="图片 5" descr="图示&#10;&#10;描述已自动生成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14" name="图片 13" descr="图示&#10;&#10;描述已自动生成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20" name="图片 19" descr="图示&#10;&#10;描述已自动生成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</a:p>
          </p:txBody>
        </p:sp>
      </p:grpSp>
      <p:cxnSp>
        <p:nvCxnSpPr>
          <p:cNvPr id="25" name="直接箭头连接符 24"/>
          <p:cNvCxnSpPr/>
          <p:nvPr/>
        </p:nvCxnSpPr>
        <p:spPr>
          <a:xfrm flipV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245522" y="3350528"/>
            <a:ext cx="8178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?</a:t>
            </a:r>
          </a:p>
        </p:txBody>
      </p:sp>
      <p:cxnSp>
        <p:nvCxnSpPr>
          <p:cNvPr id="23" name="直接箭头连接符 22"/>
          <p:cNvCxnSpPr>
            <a:endCxn id="10" idx="3"/>
          </p:cNvCxnSpPr>
          <p:nvPr/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上传位置数据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6450" y="3662045"/>
            <a:ext cx="869315" cy="244665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8963025" y="4983480"/>
            <a:ext cx="341630" cy="499745"/>
            <a:chOff x="12314" y="-3585"/>
            <a:chExt cx="1198" cy="1750"/>
          </a:xfrm>
        </p:grpSpPr>
        <p:sp>
          <p:nvSpPr>
            <p:cNvPr id="28" name="椭圆 27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12785" y="-2549"/>
              <a:ext cx="257" cy="71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2" grpId="1"/>
      <p:bldP spid="50" grpId="0"/>
      <p:bldP spid="5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532" y="3389263"/>
            <a:ext cx="2873375" cy="2581910"/>
          </a:xfrm>
          <a:prstGeom prst="roundRect">
            <a:avLst>
              <a:gd name="adj" fmla="val 6357"/>
            </a:avLst>
          </a:prstGeom>
        </p:spPr>
      </p:pic>
      <p:pic>
        <p:nvPicPr>
          <p:cNvPr id="3" name="图片 2" descr="卡通人物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81" y="3636010"/>
            <a:ext cx="918845" cy="247269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6" name="图片 5" descr="图示&#10;&#10;描述已自动生成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14" name="图片 13" descr="图示&#10;&#10;描述已自动生成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20" name="图片 19" descr="图示&#10;&#10;描述已自动生成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  <a:endPara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25" name="直接箭头连接符 24"/>
          <p:cNvCxnSpPr/>
          <p:nvPr/>
        </p:nvCxnSpPr>
        <p:spPr>
          <a:xfrm flipV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0" idx="3"/>
          </p:cNvCxnSpPr>
          <p:nvPr/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上传位置数据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6450" y="3662045"/>
            <a:ext cx="869315" cy="2446655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>
            <a:off x="5730904" y="3270692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215745" y="2399933"/>
            <a:ext cx="31724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NB-IoT(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超低功耗、信号稳定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传输距离远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endParaRPr lang="zh-CN" altLang="en-US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8963025" y="4983480"/>
            <a:ext cx="341630" cy="499745"/>
            <a:chOff x="12314" y="-3585"/>
            <a:chExt cx="1198" cy="1750"/>
          </a:xfrm>
        </p:grpSpPr>
        <p:sp>
          <p:nvSpPr>
            <p:cNvPr id="24" name="椭圆 23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2785" y="-2549"/>
              <a:ext cx="257" cy="71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670290" y="4888230"/>
            <a:ext cx="288290" cy="288925"/>
            <a:chOff x="12314" y="-3585"/>
            <a:chExt cx="1198" cy="1198"/>
          </a:xfrm>
        </p:grpSpPr>
        <p:sp>
          <p:nvSpPr>
            <p:cNvPr id="30" name="椭圆 29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9039225" y="5594985"/>
            <a:ext cx="288290" cy="288925"/>
            <a:chOff x="12314" y="-3585"/>
            <a:chExt cx="1198" cy="1198"/>
          </a:xfrm>
        </p:grpSpPr>
        <p:sp>
          <p:nvSpPr>
            <p:cNvPr id="34" name="椭圆 33"/>
            <p:cNvSpPr/>
            <p:nvPr/>
          </p:nvSpPr>
          <p:spPr>
            <a:xfrm>
              <a:off x="12314" y="-3585"/>
              <a:ext cx="1198" cy="119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2599" y="-3300"/>
              <a:ext cx="628" cy="6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/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/>
        </p:nvPicPr>
        <p:blipFill>
          <a:blip r:embed="rId3"/>
          <a:srcRect l="6886"/>
          <a:stretch>
            <a:fillRect/>
          </a:stretch>
        </p:blipFill>
        <p:spPr>
          <a:xfrm>
            <a:off x="7762240" y="3414395"/>
            <a:ext cx="3013710" cy="2581910"/>
          </a:xfrm>
          <a:prstGeom prst="round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3" name="图片 2" descr="图示&#10;&#10;描述已自动生成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36" name="图片 35" descr="图示&#10;&#10;描述已自动生成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37" name="矩形 36"/>
            <p:cNvSpPr/>
            <p:nvPr/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40" name="图片 39" descr="图示&#10;&#10;描述已自动生成"/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41" name="矩形 40"/>
            <p:cNvSpPr/>
            <p:nvPr/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  <a:endPara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42" name="直接箭头连接符 41"/>
          <p:cNvCxnSpPr/>
          <p:nvPr/>
        </p:nvCxnSpPr>
        <p:spPr>
          <a:xfrm flipH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7" idx="3"/>
          </p:cNvCxnSpPr>
          <p:nvPr/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发送开锁请求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1034415" y="2399665"/>
            <a:ext cx="335407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NB-IoT(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发送开锁指令</a:t>
            </a: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6450" y="3662045"/>
            <a:ext cx="869315" cy="2446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45" grpId="0"/>
      <p:bldP spid="4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/>
        </p:nvPicPr>
        <p:blipFill>
          <a:blip r:embed="rId24"/>
          <a:srcRect l="6886"/>
          <a:stretch>
            <a:fillRect/>
          </a:stretch>
        </p:blipFill>
        <p:spPr>
          <a:xfrm>
            <a:off x="7762240" y="3414395"/>
            <a:ext cx="3013710" cy="2581910"/>
          </a:xfrm>
          <a:prstGeom prst="round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4631092" y="2058139"/>
            <a:ext cx="1196340" cy="1198880"/>
            <a:chOff x="13906" y="4035"/>
            <a:chExt cx="1884" cy="1888"/>
          </a:xfrm>
        </p:grpSpPr>
        <p:pic>
          <p:nvPicPr>
            <p:cNvPr id="3" name="图片 2" descr="图示&#10;&#10;描述已自动生成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28" t="46558" r="62061" b="28916"/>
            <a:stretch>
              <a:fillRect/>
            </a:stretch>
          </p:blipFill>
          <p:spPr>
            <a:xfrm>
              <a:off x="13987" y="4035"/>
              <a:ext cx="1722" cy="1264"/>
            </a:xfrm>
            <a:prstGeom prst="rect">
              <a:avLst/>
            </a:prstGeom>
          </p:spPr>
        </p:pic>
        <p:sp>
          <p:nvSpPr>
            <p:cNvPr id="7" name="矩形 6"/>
            <p:cNvSpPr/>
            <p:nvPr>
              <p:custDataLst>
                <p:tags r:id="rId21"/>
              </p:custDataLst>
            </p:nvPr>
          </p:nvSpPr>
          <p:spPr>
            <a:xfrm>
              <a:off x="13906" y="5299"/>
              <a:ext cx="1884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云服务器</a:t>
              </a:r>
            </a:p>
          </p:txBody>
        </p:sp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1938692" y="3965843"/>
            <a:ext cx="1656715" cy="1570990"/>
            <a:chOff x="11382" y="6887"/>
            <a:chExt cx="2609" cy="2474"/>
          </a:xfrm>
        </p:grpSpPr>
        <p:pic>
          <p:nvPicPr>
            <p:cNvPr id="36" name="图片 35" descr="图示&#10;&#10;描述已自动生成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933" t="51389" r="7886" b="4623"/>
            <a:stretch>
              <a:fillRect/>
            </a:stretch>
          </p:blipFill>
          <p:spPr>
            <a:xfrm>
              <a:off x="11382" y="6887"/>
              <a:ext cx="2542" cy="1800"/>
            </a:xfrm>
            <a:prstGeom prst="rect">
              <a:avLst/>
            </a:prstGeom>
          </p:spPr>
        </p:pic>
        <p:sp>
          <p:nvSpPr>
            <p:cNvPr id="37" name="矩形 36"/>
            <p:cNvSpPr/>
            <p:nvPr>
              <p:custDataLst>
                <p:tags r:id="rId19"/>
              </p:custDataLst>
            </p:nvPr>
          </p:nvSpPr>
          <p:spPr>
            <a:xfrm>
              <a:off x="11383" y="8737"/>
              <a:ext cx="260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sz="1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共享单车</a:t>
              </a:r>
            </a:p>
          </p:txBody>
        </p:sp>
      </p:grpSp>
      <p:grpSp>
        <p:nvGrpSpPr>
          <p:cNvPr id="38" name="组合 37"/>
          <p:cNvGrpSpPr/>
          <p:nvPr>
            <p:custDataLst>
              <p:tags r:id="rId3"/>
            </p:custDataLst>
          </p:nvPr>
        </p:nvGrpSpPr>
        <p:grpSpPr>
          <a:xfrm>
            <a:off x="6800252" y="3965843"/>
            <a:ext cx="1236980" cy="1570990"/>
            <a:chOff x="16330" y="6887"/>
            <a:chExt cx="1948" cy="2474"/>
          </a:xfrm>
        </p:grpSpPr>
        <p:pic>
          <p:nvPicPr>
            <p:cNvPr id="40" name="图片 39" descr="图示&#10;&#10;描述已自动生成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465" t="1840" r="42406" b="67068"/>
            <a:stretch>
              <a:fillRect/>
            </a:stretch>
          </p:blipFill>
          <p:spPr>
            <a:xfrm>
              <a:off x="16860" y="6887"/>
              <a:ext cx="887" cy="1850"/>
            </a:xfrm>
            <a:prstGeom prst="rect">
              <a:avLst/>
            </a:prstGeom>
          </p:spPr>
        </p:pic>
        <p:sp>
          <p:nvSpPr>
            <p:cNvPr id="41" name="矩形 40"/>
            <p:cNvSpPr/>
            <p:nvPr>
              <p:custDataLst>
                <p:tags r:id="rId17"/>
              </p:custDataLst>
            </p:nvPr>
          </p:nvSpPr>
          <p:spPr>
            <a:xfrm>
              <a:off x="16330" y="8737"/>
              <a:ext cx="1948" cy="624"/>
            </a:xfrm>
            <a:prstGeom prst="rect">
              <a:avLst/>
            </a:prstGeom>
            <a:solidFill>
              <a:srgbClr val="2E4C6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r>
                <a:rPr lang="zh-CN" altLang="en-US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手机</a:t>
              </a:r>
              <a:endPara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42" name="直接箭头连接符 41"/>
          <p:cNvCxnSpPr/>
          <p:nvPr>
            <p:custDataLst>
              <p:tags r:id="rId4"/>
            </p:custDataLst>
          </p:nvPr>
        </p:nvCxnSpPr>
        <p:spPr>
          <a:xfrm flipH="1">
            <a:off x="3531907" y="3048000"/>
            <a:ext cx="1099185" cy="1632218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7" idx="3"/>
          </p:cNvCxnSpPr>
          <p:nvPr>
            <p:custDataLst>
              <p:tags r:id="rId5"/>
            </p:custDataLst>
          </p:nvPr>
        </p:nvCxnSpPr>
        <p:spPr>
          <a:xfrm flipH="1" flipV="1">
            <a:off x="5827432" y="3058899"/>
            <a:ext cx="1290320" cy="1691804"/>
          </a:xfrm>
          <a:prstGeom prst="straightConnector1">
            <a:avLst/>
          </a:prstGeom>
          <a:ln w="19050" cap="flat" cmpd="sng" algn="ctr">
            <a:solidFill>
              <a:srgbClr val="014E6A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>
            <p:custDataLst>
              <p:tags r:id="rId6"/>
            </p:custDataLst>
          </p:nvPr>
        </p:nvSpPr>
        <p:spPr>
          <a:xfrm>
            <a:off x="6172872" y="2399933"/>
            <a:ext cx="31724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移动通信技术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发送开锁请求</a:t>
            </a:r>
          </a:p>
        </p:txBody>
      </p:sp>
      <p:sp>
        <p:nvSpPr>
          <p:cNvPr id="45" name="文本框 44"/>
          <p:cNvSpPr txBox="1"/>
          <p:nvPr>
            <p:custDataLst>
              <p:tags r:id="rId7"/>
            </p:custDataLst>
          </p:nvPr>
        </p:nvSpPr>
        <p:spPr>
          <a:xfrm>
            <a:off x="1034415" y="2399665"/>
            <a:ext cx="335407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NB-IoT(</a:t>
            </a:r>
            <a:r>
              <a:rPr lang="zh-CN" altLang="en-US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窄带物联技术</a:t>
            </a:r>
            <a:r>
              <a:rPr lang="en-US" altLang="zh-CN" sz="20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发送开锁指令</a:t>
            </a:r>
          </a:p>
        </p:txBody>
      </p:sp>
      <p:grpSp>
        <p:nvGrpSpPr>
          <p:cNvPr id="5" name="组合 4"/>
          <p:cNvGrpSpPr/>
          <p:nvPr>
            <p:custDataLst>
              <p:tags r:id="rId8"/>
            </p:custDataLst>
          </p:nvPr>
        </p:nvGrpSpPr>
        <p:grpSpPr>
          <a:xfrm>
            <a:off x="5984240" y="3556635"/>
            <a:ext cx="1056640" cy="618490"/>
            <a:chOff x="3516" y="4754"/>
            <a:chExt cx="1664" cy="974"/>
          </a:xfrm>
        </p:grpSpPr>
        <p:grpSp>
          <p:nvGrpSpPr>
            <p:cNvPr id="33" name="组合 32"/>
            <p:cNvGrpSpPr/>
            <p:nvPr/>
          </p:nvGrpSpPr>
          <p:grpSpPr>
            <a:xfrm>
              <a:off x="3516" y="4812"/>
              <a:ext cx="806" cy="758"/>
              <a:chOff x="3841" y="-1240"/>
              <a:chExt cx="806" cy="758"/>
            </a:xfrm>
            <a:solidFill>
              <a:schemeClr val="bg1"/>
            </a:solidFill>
          </p:grpSpPr>
          <p:sp>
            <p:nvSpPr>
              <p:cNvPr id="30" name="矩形 29"/>
              <p:cNvSpPr/>
              <p:nvPr>
                <p:custDataLst>
                  <p:tags r:id="rId13"/>
                </p:custDataLst>
              </p:nvPr>
            </p:nvSpPr>
            <p:spPr>
              <a:xfrm>
                <a:off x="3841" y="-838"/>
                <a:ext cx="212" cy="357"/>
              </a:xfrm>
              <a:prstGeom prst="rect">
                <a:avLst/>
              </a:prstGeom>
              <a:grpFill/>
              <a:ln w="28575">
                <a:solidFill>
                  <a:srgbClr val="2E4C6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>
                <p:custDataLst>
                  <p:tags r:id="rId14"/>
                </p:custDataLst>
              </p:nvPr>
            </p:nvSpPr>
            <p:spPr>
              <a:xfrm>
                <a:off x="4138" y="-1018"/>
                <a:ext cx="212" cy="537"/>
              </a:xfrm>
              <a:prstGeom prst="rect">
                <a:avLst/>
              </a:prstGeom>
              <a:grpFill/>
              <a:ln w="28575">
                <a:solidFill>
                  <a:srgbClr val="2E4C6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>
                <p:custDataLst>
                  <p:tags r:id="rId15"/>
                </p:custDataLst>
              </p:nvPr>
            </p:nvSpPr>
            <p:spPr>
              <a:xfrm>
                <a:off x="4435" y="-1240"/>
                <a:ext cx="212" cy="759"/>
              </a:xfrm>
              <a:prstGeom prst="rect">
                <a:avLst/>
              </a:prstGeom>
              <a:grpFill/>
              <a:ln w="28575">
                <a:solidFill>
                  <a:srgbClr val="2E4C6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" name="乘号 28"/>
            <p:cNvSpPr/>
            <p:nvPr>
              <p:custDataLst>
                <p:tags r:id="rId12"/>
              </p:custDataLst>
            </p:nvPr>
          </p:nvSpPr>
          <p:spPr>
            <a:xfrm>
              <a:off x="4206" y="4754"/>
              <a:ext cx="974" cy="974"/>
            </a:xfrm>
            <a:prstGeom prst="mathMultiply">
              <a:avLst>
                <a:gd name="adj1" fmla="val 15092"/>
              </a:avLst>
            </a:prstGeom>
            <a:solidFill>
              <a:srgbClr val="C0000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卡通人物&#10;&#10;描述已自动生成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81" y="3636010"/>
            <a:ext cx="918845" cy="247269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4053809" y="3755526"/>
            <a:ext cx="2368581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蓝牙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无网络、短距离</a:t>
            </a:r>
            <a:endParaRPr lang="en-US" altLang="zh-CN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小数据量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endParaRPr lang="zh-CN" altLang="en-US" sz="20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0" name="直接箭头连接符 9"/>
          <p:cNvCxnSpPr/>
          <p:nvPr>
            <p:custDataLst>
              <p:tags r:id="rId10"/>
            </p:custDataLst>
          </p:nvPr>
        </p:nvCxnSpPr>
        <p:spPr>
          <a:xfrm flipH="1">
            <a:off x="3595407" y="5275139"/>
            <a:ext cx="3204845" cy="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cxnSp>
        <p:nvCxnSpPr>
          <p:cNvPr id="2" name="直接箭头连接符 1"/>
          <p:cNvCxnSpPr/>
          <p:nvPr>
            <p:custDataLst>
              <p:tags r:id="rId11"/>
            </p:custDataLst>
          </p:nvPr>
        </p:nvCxnSpPr>
        <p:spPr>
          <a:xfrm>
            <a:off x="3595407" y="5406437"/>
            <a:ext cx="3204845" cy="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1"/>
      <p:bldP spid="45" grpId="1"/>
      <p:bldP spid="28" grpId="0"/>
      <p:bldP spid="2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739265" y="1124585"/>
            <a:ext cx="8482965" cy="469900"/>
            <a:chOff x="2739" y="1541"/>
            <a:chExt cx="13359" cy="740"/>
          </a:xfrm>
        </p:grpSpPr>
        <p:grpSp>
          <p:nvGrpSpPr>
            <p:cNvPr id="12" name="组合 11"/>
            <p:cNvGrpSpPr/>
            <p:nvPr/>
          </p:nvGrpSpPr>
          <p:grpSpPr>
            <a:xfrm>
              <a:off x="2739" y="1541"/>
              <a:ext cx="702" cy="740"/>
              <a:chOff x="2121873" y="1511588"/>
              <a:chExt cx="445481" cy="469613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 flipV="1">
              <a:off x="3626" y="1985"/>
              <a:ext cx="12472" cy="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文本框 12"/>
          <p:cNvSpPr txBox="1"/>
          <p:nvPr/>
        </p:nvSpPr>
        <p:spPr>
          <a:xfrm>
            <a:off x="2187338" y="764540"/>
            <a:ext cx="8379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</a:t>
            </a:r>
            <a:r>
              <a:rPr lang="en-US" altLang="zh-CN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32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：分析共享单车中的数据传输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31355" y="4455795"/>
            <a:ext cx="47269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通常为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NB-IoT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蓝牙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4G Cat.1</a:t>
            </a:r>
            <a:endParaRPr lang="zh-CN" altLang="en-US" sz="2400" dirty="0">
              <a:solidFill>
                <a:srgbClr val="2E4C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5965" y="4868545"/>
            <a:ext cx="3352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核心部件</a:t>
            </a:r>
            <a:r>
              <a:rPr lang="en-US" altLang="zh-CN" sz="2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2400" b="1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智能车锁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727574" y="2239645"/>
            <a:ext cx="48310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微控制器：用于控制整个智能锁</a:t>
            </a:r>
          </a:p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电池：为智能锁供电</a:t>
            </a:r>
          </a:p>
          <a:p>
            <a:pPr algn="l">
              <a:lnSpc>
                <a:spcPct val="200000"/>
              </a:lnSpc>
            </a:pPr>
            <a:r>
              <a:rPr lang="en-US" altLang="zh-CN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GPS</a:t>
            </a: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模块：定位</a:t>
            </a:r>
          </a:p>
          <a:p>
            <a:pPr algn="l">
              <a:lnSpc>
                <a:spcPct val="200000"/>
              </a:lnSpc>
            </a:pPr>
            <a:r>
              <a:rPr lang="zh-CN" altLang="en-US" sz="2400" dirty="0">
                <a:solidFill>
                  <a:srgbClr val="2E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数据传输模块：</a:t>
            </a:r>
          </a:p>
        </p:txBody>
      </p:sp>
      <p:pic>
        <p:nvPicPr>
          <p:cNvPr id="5" name="图片 4" descr="生成共享单车车锁图片"/>
          <p:cNvPicPr>
            <a:picLocks noChangeAspect="1"/>
          </p:cNvPicPr>
          <p:nvPr/>
        </p:nvPicPr>
        <p:blipFill>
          <a:blip r:embed="rId3"/>
          <a:srcRect l="10040" t="11157" r="4831" b="7066"/>
          <a:stretch>
            <a:fillRect/>
          </a:stretch>
        </p:blipFill>
        <p:spPr>
          <a:xfrm>
            <a:off x="1012190" y="2118360"/>
            <a:ext cx="2800350" cy="2689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JmZGI1NTVhZWQyN2Y4MmJkMDUxYjhlNDYxYWY5YTUifQ=="/>
  <p:tag name="RESOURCE_RECORD_KEY" val="{&quot;10&quot;:[21548379,21548530,21560654,21579551,20183404,21558200,20251177,21596364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9.25,&quot;left&quot;:367.95,&quot;top&quot;:170.3,&quot;width&quot;:487.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05,&quot;left&quot;:91.3,&quot;top&quot;:170.3,&quot;width&quot;:848.7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2.49181102362206,&quot;left&quot;:81.45,&quot;top&quot;:162.05818897637795,&quot;width&quot;:864.4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796</Words>
  <Application>Microsoft Office PowerPoint</Application>
  <PresentationFormat>宽屏</PresentationFormat>
  <Paragraphs>174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Calibri</vt:lpstr>
      <vt:lpstr>等线</vt:lpstr>
      <vt:lpstr>黑体</vt:lpstr>
      <vt:lpstr>华文楷体</vt:lpstr>
      <vt:lpstr>楷体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声  明</vt:lpstr>
      <vt:lpstr>上海市基础教育数字化转型项目组 （初中信息科技）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陈伟玲</dc:creator>
  <cp:lastModifiedBy>静 谢</cp:lastModifiedBy>
  <cp:revision>1257</cp:revision>
  <cp:lastPrinted>2023-11-28T07:31:00Z</cp:lastPrinted>
  <dcterms:created xsi:type="dcterms:W3CDTF">2020-02-05T11:17:00Z</dcterms:created>
  <dcterms:modified xsi:type="dcterms:W3CDTF">2025-09-28T15:22:38Z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D8653281B530421E8DE3E4963D52EA6C_13</vt:lpwstr>
  </property>
  <property fmtid="{D5CDD505-2E9C-101B-9397-08002B2CF9AE}" pid="3" name="KSOProductBuildVer">
    <vt:lpwstr>2052-12.1.0.22529</vt:lpwstr>
  </property>
</Properties>
</file>