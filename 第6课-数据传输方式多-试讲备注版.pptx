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593" r:id="rId2"/>
    <p:sldId id="520" r:id="rId3"/>
    <p:sldId id="595" r:id="rId4"/>
    <p:sldId id="597" r:id="rId5"/>
    <p:sldId id="625" r:id="rId6"/>
    <p:sldId id="645" r:id="rId7"/>
    <p:sldId id="640" r:id="rId8"/>
    <p:sldId id="647" r:id="rId9"/>
    <p:sldId id="648" r:id="rId10"/>
    <p:sldId id="613" r:id="rId11"/>
    <p:sldId id="641" r:id="rId12"/>
    <p:sldId id="624" r:id="rId13"/>
    <p:sldId id="654" r:id="rId14"/>
    <p:sldId id="656" r:id="rId15"/>
    <p:sldId id="655" r:id="rId16"/>
    <p:sldId id="657" r:id="rId17"/>
    <p:sldId id="635" r:id="rId18"/>
    <p:sldId id="653" r:id="rId19"/>
    <p:sldId id="615" r:id="rId20"/>
    <p:sldId id="610" r:id="rId21"/>
    <p:sldId id="658" r:id="rId22"/>
    <p:sldId id="660" r:id="rId23"/>
    <p:sldId id="524" r:id="rId24"/>
  </p:sldIdLst>
  <p:sldSz cx="12192000" cy="6858000"/>
  <p:notesSz cx="6858000" cy="9144000"/>
  <p:custDataLst>
    <p:tags r:id="rId2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71" userDrawn="1">
          <p15:clr>
            <a:srgbClr val="A4A3A4"/>
          </p15:clr>
        </p15:guide>
        <p15:guide id="2" pos="599" userDrawn="1">
          <p15:clr>
            <a:srgbClr val="A4A3A4"/>
          </p15:clr>
        </p15:guide>
        <p15:guide id="3" pos="6878" userDrawn="1">
          <p15:clr>
            <a:srgbClr val="A4A3A4"/>
          </p15:clr>
        </p15:guide>
        <p15:guide id="4" orient="horz" pos="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643"/>
    <a:srgbClr val="2E4C64"/>
    <a:srgbClr val="007AFC"/>
    <a:srgbClr val="95C7FA"/>
    <a:srgbClr val="F6F6F6"/>
    <a:srgbClr val="711000"/>
    <a:srgbClr val="1784AD"/>
    <a:srgbClr val="014E6A"/>
    <a:srgbClr val="F7F7F7"/>
    <a:srgbClr val="A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581" autoAdjust="0"/>
  </p:normalViewPr>
  <p:slideViewPr>
    <p:cSldViewPr snapToGrid="0" showGuides="1">
      <p:cViewPr varScale="1">
        <p:scale>
          <a:sx n="76" d="100"/>
          <a:sy n="76" d="100"/>
        </p:scale>
        <p:origin x="651" y="48"/>
      </p:cViewPr>
      <p:guideLst>
        <p:guide orient="horz" pos="3771"/>
        <p:guide pos="599"/>
        <p:guide pos="6878"/>
        <p:guide orient="horz" pos="48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7344"/>
    </p:cViewPr>
  </p:sorter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57FE95A-1FF0-4568-8F86-0FE691715E6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9E2DF19-391F-414E-AF3C-23BFC169676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E5F7B05-4B96-4F5F-B806-D99396CD7062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43CA2E4-3BFE-4860-AB78-7DBE9632C95C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【第1页｜开场｜约20秒】</a:t>
            </a:r>
            <a:endParaRPr lang="zh-CN" altLang="en-US" dirty="0"/>
          </a:p>
          <a:p/>
          <a:p>
            <a:r>
              <a:t>同学们好！今天这节课名字叫《数据传输方式多》。</a:t>
            </a:r>
          </a:p>
          <a:p>
            <a:r>
              <a:t>先别被名字吓到——其实就是研究：生活里信息是怎么“传来传去”的。</a:t>
            </a:r>
          </a:p>
          <a:p>
            <a:r>
              <a:t>我们从一个特别熟的例子开始。</a:t>
            </a:r>
          </a:p>
          <a:p/>
          <a:p>
            <a:r>
              <a:t>→ 点击进入第2页。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t>【第2页｜导入热身｜约40–50秒】</a:t>
            </a:r>
            <a:endParaRPr lang="zh-CN" altLang="en-US"/>
          </a:p>
          <a:p>
            <a:r>
              <a:t>思维台阶：①唤起</a:t>
            </a:r>
          </a:p>
          <a:p/>
          <a:p>
            <a:r>
              <a:t>【问1】想骑车回家时，打开共享单车小程序，屏幕上通常先跳出什么？</a:t>
            </a:r>
          </a:p>
          <a:p>
            <a:r>
              <a:t>（预期：地图、附近的车。冷场就自己补半句。）</a:t>
            </a:r>
          </a:p>
          <a:p/>
          <a:p>
            <a:r>
              <a:t>【问2】车明明停在马路边，又不会打电话给你，手机怎么就“知道”附近哪有车？</a:t>
            </a:r>
          </a:p>
          <a:p>
            <a:r>
              <a:t>（学生说定位、联网、公司知道……都先肯定。）</a:t>
            </a:r>
          </a:p>
          <a:p/>
          <a:p>
            <a:r>
              <a:t>【收束】看来手机和车之间，一定在“传话”。今天我们就当一次小侦探，把这套传话路线找出来。</a:t>
            </a:r>
          </a:p>
          <a:p/>
          <a:p>
            <a:r>
              <a:t>【备用问】如果这些车突然都断网了，你手机上还能看到真实的附近车辆吗？</a:t>
            </a:r>
          </a:p>
          <a:p/>
          <a:p>
            <a:r>
              <a:t>→ 进入第3页。</a:t>
            </a:r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470F777-8F76-4E58-967D-78AFCC084C0E}" type="slidenum">
              <a:rPr lang="zh-CN" altLang="en-US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304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【第3页｜活动一标题｜约15秒】</a:t>
            </a:r>
            <a:endParaRPr lang="zh-CN" altLang="en-US" sz="1800" kern="1200" dirty="0"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/>
          <a:p>
            <a:r>
              <a:t>要把“手机怎么知道附近有车”说清楚，我们进入活动一：探析物联系统中的数据传输。</a:t>
            </a:r>
          </a:p>
          <a:p>
            <a:r>
              <a:t>今天重点完成里面的任务1和任务2。</a:t>
            </a:r>
          </a:p>
          <a:p>
            <a:r>
              <a:t>先不谈技术名词——先把用车过程说清楚，才知道话是在哪几步跑起来的。</a:t>
            </a:r>
          </a:p>
          <a:p/>
          <a:p>
            <a:r>
              <a:t>→ 进入第4页（任务1）。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【第4页｜任务1：说使用过程｜约5分钟】</a:t>
            </a:r>
            <a:endParaRPr lang="zh-CN" altLang="en-US" dirty="0"/>
          </a:p>
          <a:p>
            <a:r>
              <a:t>思维台阶：②描述 → ③定位</a:t>
            </a:r>
          </a:p>
          <a:p/>
          <a:p>
            <a:r>
              <a:t>【过渡】任务1很生活：说一说你怎么用共享单车。请按时间顺序说，别只剩“扫码开锁”四个字。</a:t>
            </a:r>
          </a:p>
          <a:p/>
          <a:p>
            <a:r>
              <a:t>【活动A｜同桌互说 ≈2分钟】</a:t>
            </a:r>
          </a:p>
          <a:p>
            <a:r>
              <a:t>支架：打开____ → 查看____ → 走到车旁 → ____二维码 → ____车锁 → 骑行 → ____</a:t>
            </a:r>
          </a:p>
          <a:p>
            <a:r>
              <a:t>一人说，一人挑漏。</a:t>
            </a:r>
          </a:p>
          <a:p/>
          <a:p>
            <a:r>
              <a:t>【问】谁来把完整过程说一遍？</a:t>
            </a:r>
          </a:p>
          <a:p>
            <a:r>
              <a:t>（目标：打开小程序→看附近车→走到车旁→扫码→开锁→骑行→还车）</a:t>
            </a:r>
          </a:p>
          <a:p/>
          <a:p>
            <a:r>
              <a:t>【问】在这些步骤里，哪几步你觉得手机和车/公司之间一定在“传话”？为什么？</a:t>
            </a:r>
          </a:p>
          <a:p>
            <a:r>
              <a:t>（预期：看附近车、扫码开锁、计费还车……）</a:t>
            </a:r>
          </a:p>
          <a:p/>
          <a:p>
            <a:r>
              <a:t>【侦探问题，先挂起不答透】</a:t>
            </a:r>
          </a:p>
          <a:p>
            <a:r>
              <a:t>1）手机怎么知道车在哪？</a:t>
            </a:r>
          </a:p>
          <a:p>
            <a:r>
              <a:t>2）扫码后，凭什么打开的是这一辆，而不是旁边那辆？</a:t>
            </a:r>
          </a:p>
          <a:p>
            <a:r>
              <a:t>（注意：这里先不要出现“服务器/NB-IoT”。）</a:t>
            </a:r>
          </a:p>
          <a:p/>
          <a:p>
            <a:r>
              <a:t>【收束】过程清楚了，留下两个疑问：车在哪、开哪辆。接下来用“传话”把它们说破。</a:t>
            </a:r>
          </a:p>
          <a:p/>
          <a:p>
            <a:r>
              <a:t>→ 进入第5页（任务2）。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【第5页｜任务2·找车｜约2分钟】</a:t>
            </a:r>
            <a:endParaRPr lang="zh-CN" altLang="en-US" dirty="0"/>
          </a:p>
          <a:p>
            <a:r>
              <a:t>思维台阶：③定位</a:t>
            </a:r>
          </a:p>
          <a:p>
            <a:r>
              <a:t>类比优先：调度中心 = 云服务器；上网通道 = 4G/5G</a:t>
            </a:r>
          </a:p>
          <a:p/>
          <a:p>
            <a:r>
              <a:t>【过渡】任务2开始。先认识三个角色——别急着记英文：一个是你的手机，一个是单车，还有一个像“总台”的调度中心。</a:t>
            </a:r>
          </a:p>
          <a:p/>
          <a:p>
            <a:r>
              <a:t>【类比讲解】</a:t>
            </a:r>
          </a:p>
          <a:p>
            <a:r>
              <a:t>想象共享单车公司有一个很大的调度中心（指PPT上的云服务器）：</a:t>
            </a:r>
          </a:p>
          <a:p>
            <a:r>
              <a:t>全城的车都得跟它报备“我在哪”，你的手机也是去问它“附近有车吗”。</a:t>
            </a:r>
          </a:p>
          <a:p>
            <a:r>
              <a:t>手机通常看不见全城每一辆车，它看见的是调度中心告诉它的结果。</a:t>
            </a:r>
          </a:p>
          <a:p/>
          <a:p>
            <a:r>
              <a:t>【问1】如果没有调度中心，只靠你的手机，能不能自己“看见”全市单车？</a:t>
            </a:r>
          </a:p>
          <a:p>
            <a:r>
              <a:t>【问2】那车的位置，先得告诉谁，你的手机才能查到？</a:t>
            </a:r>
          </a:p>
          <a:p>
            <a:r>
              <a:t>【问3】你手机平时刷短视频、聊微信，走的是哪种很常见的上网方式？</a:t>
            </a:r>
          </a:p>
          <a:p>
            <a:r>
              <a:t>（学生说流量/4G/5G即可）→ “对，就是手机常用的上网通道。”</a:t>
            </a:r>
          </a:p>
          <a:p/>
          <a:p>
            <a:r>
              <a:t>【点学名】PPT上写的“云服务器”，我们刚才叫它调度中心；手机连它，常用4G/5G。</a:t>
            </a:r>
          </a:p>
          <a:p/>
          <a:p>
            <a:r>
              <a:t>【活动B｜画箭头 ≈40秒】</a:t>
            </a:r>
          </a:p>
          <a:p>
            <a:r>
              <a:t>请大家比划/画出：单车 → 调度中心 → 手机</a:t>
            </a:r>
          </a:p>
          <a:p>
            <a:r>
              <a:t>口述：车先报位置，总台再告诉手机。</a:t>
            </a:r>
          </a:p>
          <a:p/>
          <a:p>
            <a:r>
              <a:t>【过渡】单车跟总台报位置，是不是也得像手机一样“狂耗流量”？其实很多单车选了另一种更省电的传话方式。</a:t>
            </a:r>
          </a:p>
          <a:p>
            <a:r>
              <a:t>→ 进入第6页。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【第6页｜省电小纸条 / NB-IoT｜约2分钟】</a:t>
            </a:r>
            <a:endParaRPr lang="zh-CN" altLang="en-US" dirty="0"/>
          </a:p>
          <a:p>
            <a:r>
              <a:t>思维台阶：④解释（为什么这样选）</a:t>
            </a:r>
          </a:p>
          <a:p>
            <a:r>
              <a:t>类比优先：省电远程小纸条 = NB-IoT；快递大包裹 = 手机上网</a:t>
            </a:r>
          </a:p>
          <a:p/>
          <a:p>
            <a:r>
              <a:t>【类比讲解｜先不读字母】</a:t>
            </a:r>
          </a:p>
          <a:p>
            <a:r>
              <a:t>把两种传话比作寄信：</a:t>
            </a:r>
          </a:p>
          <a:p>
            <a:r>
              <a:t>• 手机上网，像能寄照片、视频的快递大包裹——快，但费电、成本高；</a:t>
            </a:r>
          </a:p>
          <a:p>
            <a:r>
              <a:t>• 单车报位置，其实只需要一句话：“我在XX路”——更像一张省电的远程小纸条：话很短，但寄得远，电池撑得久。</a:t>
            </a:r>
          </a:p>
          <a:p/>
          <a:p>
            <a:r>
              <a:t>【问1】满城那么多车，要是每辆都按手机标准又耗电又贵，会怎样？</a:t>
            </a:r>
          </a:p>
          <a:p>
            <a:r>
              <a:t>【问2】单车更需要“聊得很欢”，还是“偶尔报个短消息但特别省电”？</a:t>
            </a:r>
          </a:p>
          <a:p/>
          <a:p>
            <a:r>
              <a:t>【点学名】PPT上这个名字叫NB-IoT，窄带物联。</a:t>
            </a:r>
          </a:p>
          <a:p>
            <a:r>
              <a:t>先记住它的脾气：省电、传得远、只适合传短消息。名字记不住没关系，脾气要记住。</a:t>
            </a:r>
          </a:p>
          <a:p/>
          <a:p>
            <a:r>
              <a:t>【活动C｜对比说 ≈50秒】</a:t>
            </a:r>
          </a:p>
          <a:p>
            <a:r>
              <a:t>A卡：费电，但聊得欢（手机上网/4G/5G）</a:t>
            </a:r>
          </a:p>
          <a:p>
            <a:r>
              <a:t>B卡：省电，只传短消息（远程小纸条/NB-IoT）</a:t>
            </a:r>
          </a:p>
          <a:p>
            <a:r>
              <a:t>问：查车时，手机更像A还是B？单车上报更像A还是B？为什么要搭配？</a:t>
            </a:r>
          </a:p>
          <a:p/>
          <a:p>
            <a:r>
              <a:t>【过渡】找到车还不够。扫码开锁时，传话路线又变了——不是你直接对车下命令那么简单。</a:t>
            </a:r>
          </a:p>
          <a:p>
            <a:r>
              <a:t>→ 进入第7页。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【第7页｜开锁：先问总台｜约2.5分钟】</a:t>
            </a:r>
            <a:endParaRPr lang="zh-CN" altLang="en-US" dirty="0"/>
          </a:p>
          <a:p>
            <a:r>
              <a:t>思维台阶：④解释</a:t>
            </a:r>
          </a:p>
          <a:p>
            <a:r>
              <a:t>类比：进小区先问物业总台，再远程开门</a:t>
            </a:r>
          </a:p>
          <a:p/>
          <a:p>
            <a:r>
              <a:t>【类比讲解】</a:t>
            </a:r>
          </a:p>
          <a:p>
            <a:r>
              <a:t>扫码开锁有点像进小区单元门：</a:t>
            </a:r>
          </a:p>
          <a:p>
            <a:r>
              <a:t>你不是直接砸开别人家的门，而是先跟物业总台确认“我有权限开这扇门”，总台再远程通知那扇门打开。</a:t>
            </a:r>
          </a:p>
          <a:p>
            <a:r>
              <a:t>共享单车也一样：手机先问调度中心，调度中心再通知那辆车开锁。</a:t>
            </a:r>
          </a:p>
          <a:p/>
          <a:p>
            <a:r>
              <a:t>【问1】扫码后，你的“开锁请求”更像发给车，还是发给总台？</a:t>
            </a:r>
          </a:p>
          <a:p>
            <a:r>
              <a:t>【问2】为什么要先问总台？直接对车说“打开”会有什么麻烦？</a:t>
            </a:r>
          </a:p>
          <a:p>
            <a:r>
              <a:t>（引导：谁付钱、是不是这辆车、会不会被乱开）</a:t>
            </a:r>
          </a:p>
          <a:p>
            <a:r>
              <a:t>【问3】二维码在这里像什么？（门牌号/身份证）</a:t>
            </a:r>
          </a:p>
          <a:p>
            <a:r>
              <a:t>【问4】总台同意后，用什么方式通知远在马路上的那辆车？</a:t>
            </a:r>
          </a:p>
          <a:p>
            <a:r>
              <a:t>（回扣：省电小纸条 / NB-IoT）</a:t>
            </a:r>
          </a:p>
          <a:p/>
          <a:p>
            <a:r>
              <a:t>【点学名】所以箭头是：手机——上网通道——→云服务器——远程小纸条——→单车。</a:t>
            </a:r>
          </a:p>
          <a:p/>
          <a:p>
            <a:r>
              <a:t>【活动D｜两人接力说 ≈1分钟】</a:t>
            </a:r>
          </a:p>
          <a:p>
            <a:r>
              <a:t>A：“我（手机）向总台申请开这辆车。”</a:t>
            </a:r>
          </a:p>
          <a:p>
            <a:r>
              <a:t>B：“总台通知这辆车：可以开锁了。”</a:t>
            </a:r>
          </a:p>
          <a:p>
            <a:r>
              <a:t>全班把两句拼成一条链。</a:t>
            </a:r>
          </a:p>
          <a:p/>
          <a:p>
            <a:r>
              <a:t>【过渡】还有没有第三种传话？有——当你人已经站在车旁边时，可以“凑近说悄悄话”。</a:t>
            </a:r>
          </a:p>
          <a:p>
            <a:r>
              <a:t>→ 进入第8页。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【第8页｜悄悄话 / 蓝牙 + 角色扮演｜约3分钟】</a:t>
            </a:r>
            <a:endParaRPr lang="zh-CN" altLang="en-US" dirty="0"/>
          </a:p>
          <a:p>
            <a:r>
              <a:t>思维台阶：④巩固</a:t>
            </a:r>
          </a:p>
          <a:p>
            <a:r>
              <a:t>类比：凑近说悄悄话 = 蓝牙（像耳机连手机）</a:t>
            </a:r>
          </a:p>
          <a:p/>
          <a:p>
            <a:r>
              <a:t>【类比讲解】</a:t>
            </a:r>
          </a:p>
          <a:p>
            <a:r>
              <a:t>蓝牙很像：你和车面对面站着，凑近说一句短话。</a:t>
            </a:r>
          </a:p>
          <a:p>
            <a:r>
              <a:t>它不像远程小纸条那样寄往半个城市，更像耳机连手机——离得近、话不多、有时还能在信号不好时帮忙。</a:t>
            </a:r>
          </a:p>
          <a:p/>
          <a:p>
            <a:r>
              <a:t>【问1】悄悄话适合隔着好几条马路喊吗？</a:t>
            </a:r>
          </a:p>
          <a:p>
            <a:r>
              <a:t>【问2】开锁只需要一句很短的话，人又就在车旁——用悄悄话合适吗？</a:t>
            </a:r>
          </a:p>
          <a:p>
            <a:r>
              <a:t>【问3】它更像主角，还是助手？</a:t>
            </a:r>
          </a:p>
          <a:p>
            <a:r>
              <a:t>（多为辅助；不同品牌流程不同，合理就肯定）</a:t>
            </a:r>
          </a:p>
          <a:p/>
          <a:p>
            <a:r>
              <a:t>【点学名】这种近身传话，PPT上写的就是蓝牙。</a:t>
            </a:r>
          </a:p>
          <a:p/>
          <a:p>
            <a:r>
              <a:t>【活动E｜三角色扮演｜高潮 ≈2分钟】</a:t>
            </a:r>
          </a:p>
          <a:p>
            <a:r>
              <a:t>请3位同学：手机 / 调度中心 / 共享单车。全班当评审。</a:t>
            </a:r>
          </a:p>
          <a:p/>
          <a:p>
            <a:r>
              <a:t>口令：</a:t>
            </a:r>
          </a:p>
          <a:p>
            <a:r>
              <a:t>1）单车：“我在XX路！”（小纸条/NB-IoT）</a:t>
            </a:r>
          </a:p>
          <a:p>
            <a:r>
              <a:t>2）手机→总台：“附近有车吗？”（上网通道/4G/5G）</a:t>
            </a:r>
          </a:p>
          <a:p>
            <a:r>
              <a:t>3）总台→手机：“给你附近车辆。”</a:t>
            </a:r>
          </a:p>
          <a:p>
            <a:r>
              <a:t>4）手机→总台：“请打开这辆——门牌号在这。”（扫码）</a:t>
            </a:r>
          </a:p>
          <a:p>
            <a:r>
              <a:t>5）总台→单车：“开锁！”（小纸条/NB-IoT）</a:t>
            </a:r>
          </a:p>
          <a:p>
            <a:r>
              <a:t>6）手机与单车碰拳：“悄悄话确认一下。”（蓝牙）</a:t>
            </a:r>
          </a:p>
          <a:p/>
          <a:p>
            <a:r>
              <a:t>【追问】刚才这套组合拳里，几种传话方式？各像生活中的什么？</a:t>
            </a:r>
          </a:p>
          <a:p/>
          <a:p>
            <a:r>
              <a:t>→ 进入第9页。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【第9页｜智能车锁小管家 + 任务2收束｜约2分钟】</a:t>
            </a:r>
            <a:endParaRPr lang="zh-CN" altLang="en-US" dirty="0"/>
          </a:p>
          <a:p/>
          <a:p>
            <a:r>
              <a:t>【过渡】车为什么听得懂这些话？因为车锁里藏着几个“小管家”。</a:t>
            </a:r>
          </a:p>
          <a:p/>
          <a:p>
            <a:r>
              <a:t>【类比点到为止】</a:t>
            </a:r>
          </a:p>
          <a:p>
            <a:r>
              <a:t>• 小大脑（微控制器）：管整体动作</a:t>
            </a:r>
          </a:p>
          <a:p>
            <a:r>
              <a:t>• 充电宝（电池）：供电</a:t>
            </a:r>
          </a:p>
          <a:p>
            <a:r>
              <a:t>• 报位置的小眼睛（GPS）：知道自己在哪</a:t>
            </a:r>
          </a:p>
          <a:p>
            <a:r>
              <a:t>• 嘴巴和耳朵（数据传输模块）：负责收发传话</a:t>
            </a:r>
          </a:p>
          <a:p/>
          <a:p>
            <a:r>
              <a:t>【问1】小眼睛和嘴巴耳朵，谁负责“我在哪”，谁负责“把话传出去”？</a:t>
            </a:r>
          </a:p>
          <a:p>
            <a:r>
              <a:t>【问2】如果车锁又聋又哑（没有嘴巴耳朵），总台还能管住它吗？</a:t>
            </a:r>
          </a:p>
          <a:p/>
          <a:p>
            <a:r>
              <a:t>【任务2收束｜先类比后标签】</a:t>
            </a:r>
          </a:p>
          <a:p>
            <a:r>
              <a:t>共享单车这套组合拳是：</a:t>
            </a:r>
          </a:p>
          <a:p>
            <a:r>
              <a:t>手机用上网通道跟总台聊；</a:t>
            </a:r>
          </a:p>
          <a:p>
            <a:r>
              <a:t>单车用省电小纸条跟总台报位置、接指令；</a:t>
            </a:r>
          </a:p>
          <a:p>
            <a:r>
              <a:t>人到车旁还能用悄悄话辅助。</a:t>
            </a:r>
          </a:p>
          <a:p>
            <a:r>
              <a:t>对应到PPT名称：4G/5G、NB-IoT、蓝牙——名字可以后记，分工一定先懂。</a:t>
            </a:r>
          </a:p>
          <a:p/>
          <a:p>
            <a:r>
              <a:t>【可接小结】回扣第2页，或点到第19页第1点。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304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【本试讲可不展开】</a:t>
            </a:r>
            <a:endParaRPr lang="zh-CN" altLang="en-US" sz="1800" kern="1200" dirty="0"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t>【本试讲可不展开】</a:t>
            </a:r>
            <a:endParaRPr lang="zh-CN" altLang="en-US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CCE38C5-C475-41B8-A37C-14CC7DBE0D1C}" type="slidenum">
              <a:rPr lang="zh-CN" altLang="en-US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t>【第19页｜小结｜约2分钟｜本试讲只用第1点】</a:t>
            </a:r>
            <a:endParaRPr lang="zh-CN" altLang="en-US"/>
          </a:p>
          <a:p>
            <a:r>
              <a:t>思维台阶：⑤轻迁移</a:t>
            </a:r>
          </a:p>
          <a:p/>
          <a:p>
            <a:r>
              <a:t>【说明】本试讲只讲任务1+任务2，活动二（第2点）可一句带过或下节再讲。</a:t>
            </a:r>
          </a:p>
          <a:p/>
          <a:p>
            <a:r>
              <a:t>【回扣】回到开头：手机为什么能知道附近有车？</a:t>
            </a:r>
          </a:p>
          <a:p>
            <a:r>
              <a:t>因为车在跟调度中心传话，调度中心再告诉你的手机。</a:t>
            </a:r>
          </a:p>
          <a:p/>
          <a:p>
            <a:r>
              <a:t>【共建小结】</a:t>
            </a:r>
          </a:p>
          <a:p>
            <a:r>
              <a:t>1）任务1弄清了什么？→ 用车步骤 + 哪里在传话</a:t>
            </a:r>
          </a:p>
          <a:p>
            <a:r>
              <a:t>2）任务2弄清了什么？→ 三条传话路线及其分工</a:t>
            </a:r>
          </a:p>
          <a:p>
            <a:r>
              <a:t>3）一句话？→ 办一件事，常常要好几种传话方式一起配合。</a:t>
            </a:r>
          </a:p>
          <a:p/>
          <a:p>
            <a:r>
              <a:t>【课后思考】有时小程序转圈“正在加载附近车辆”，更像卡在哪一步传话？用今天的调度中心故事写两三句。</a:t>
            </a:r>
          </a:p>
          <a:p/>
          <a:p>
            <a:r>
              <a:t>【结束语】今天我们没有死记名词，而是读懂了共享单车的“城市传话组合拳”。名字在PPT上，道理在生活里。下课！</a:t>
            </a:r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470F777-8F76-4E58-967D-78AFCC084C0E}" type="slidenum">
              <a:rPr lang="zh-CN" altLang="en-US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304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【本试讲可不展开】</a:t>
            </a:r>
            <a:endParaRPr lang="zh-CN" altLang="en-US" sz="1800" kern="1200" dirty="0"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t>【本试讲可不展开】</a:t>
            </a:r>
            <a:endParaRPr lang="zh-CN" altLang="en-US"/>
          </a:p>
          <a:p>
            <a:r>
              <a:t>今天试讲范围：任务1 + 任务2（约第1–9页）。</a:t>
            </a:r>
          </a:p>
          <a:p>
            <a:r>
              <a:t>本页属于后续内容（活动二等），可留到下一课时。</a:t>
            </a:r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470F777-8F76-4E58-967D-78AFCC084C0E}" type="slidenum">
              <a:rPr lang="zh-CN" altLang="en-US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【片尾页】可快速翻过，无需讲解。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【片尾页】可快速翻过，无需讲解。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540E3B-F9C0-48B6-A129-4D327DD3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830513"/>
            <a:ext cx="4095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8E0DF-3665-4C20-8C85-D72E0A04F13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161F31-3451-4657-A1A5-E6152D5CC0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431800" y="365125"/>
            <a:ext cx="2133600" cy="71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9456234" y="256478"/>
            <a:ext cx="2453268" cy="512956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500839" y="345688"/>
            <a:ext cx="2297151" cy="401444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2B0652C-902F-46F1-BD6C-9E4BF38181EB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FB6B509-FCD0-4EBA-ABA3-F8A4EF0D028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jpeg"/><Relationship Id="rId5" Type="http://schemas.openxmlformats.org/officeDocument/2006/relationships/image" Target="../media/image11.png"/><Relationship Id="rId6" Type="http://schemas.openxmlformats.org/officeDocument/2006/relationships/image" Target="../media/image12.jpe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tags" Target="../tags/tag16.xml"/><Relationship Id="rId7" Type="http://schemas.openxmlformats.org/officeDocument/2006/relationships/tags" Target="../tags/tag17.xml"/><Relationship Id="rId8" Type="http://schemas.openxmlformats.org/officeDocument/2006/relationships/tags" Target="../tags/tag18.xml"/><Relationship Id="rId9" Type="http://schemas.openxmlformats.org/officeDocument/2006/relationships/tags" Target="../tags/tag19.xml"/><Relationship Id="rId10" Type="http://schemas.openxmlformats.org/officeDocument/2006/relationships/tags" Target="../tags/tag20.xml"/><Relationship Id="rId11" Type="http://schemas.openxmlformats.org/officeDocument/2006/relationships/tags" Target="../tags/tag21.xml"/><Relationship Id="rId12" Type="http://schemas.openxmlformats.org/officeDocument/2006/relationships/tags" Target="../tags/tag22.xml"/><Relationship Id="rId13" Type="http://schemas.openxmlformats.org/officeDocument/2006/relationships/tags" Target="../tags/tag23.xml"/><Relationship Id="rId14" Type="http://schemas.openxmlformats.org/officeDocument/2006/relationships/tags" Target="../tags/tag24.xml"/><Relationship Id="rId15" Type="http://schemas.openxmlformats.org/officeDocument/2006/relationships/tags" Target="../tags/tag25.xml"/><Relationship Id="rId16" Type="http://schemas.openxmlformats.org/officeDocument/2006/relationships/tags" Target="../tags/tag26.xml"/><Relationship Id="rId17" Type="http://schemas.openxmlformats.org/officeDocument/2006/relationships/tags" Target="../tags/tag27.xml"/><Relationship Id="rId18" Type="http://schemas.openxmlformats.org/officeDocument/2006/relationships/tags" Target="../tags/tag28.xml"/><Relationship Id="rId19" Type="http://schemas.openxmlformats.org/officeDocument/2006/relationships/tags" Target="../tags/tag29.xml"/><Relationship Id="rId20" Type="http://schemas.openxmlformats.org/officeDocument/2006/relationships/tags" Target="../tags/tag30.xml"/><Relationship Id="rId21" Type="http://schemas.openxmlformats.org/officeDocument/2006/relationships/tags" Target="../tags/tag31.xml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8.xml"/><Relationship Id="rId24" Type="http://schemas.openxmlformats.org/officeDocument/2006/relationships/image" Target="../media/image6.png"/><Relationship Id="rId25" Type="http://schemas.openxmlformats.org/officeDocument/2006/relationships/image" Target="../media/image10.jpeg"/><Relationship Id="rId26" Type="http://schemas.openxmlformats.org/officeDocument/2006/relationships/image" Target="../media/image11.png"/><Relationship Id="rId27" Type="http://schemas.openxmlformats.org/officeDocument/2006/relationships/image" Target="../media/image12.jpeg"/><Relationship Id="rId28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eg"/><Relationship Id="rId4" Type="http://schemas.openxmlformats.org/officeDocument/2006/relationships/image" Target="../media/image15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Relationship Id="rId10" Type="http://schemas.openxmlformats.org/officeDocument/2006/relationships/tags" Target="../tags/tag42.xml"/><Relationship Id="rId11" Type="http://schemas.openxmlformats.org/officeDocument/2006/relationships/tags" Target="../tags/tag43.xml"/><Relationship Id="rId12" Type="http://schemas.openxmlformats.org/officeDocument/2006/relationships/tags" Target="../tags/tag44.xml"/><Relationship Id="rId13" Type="http://schemas.openxmlformats.org/officeDocument/2006/relationships/tags" Target="../tags/tag45.xml"/><Relationship Id="rId14" Type="http://schemas.openxmlformats.org/officeDocument/2006/relationships/tags" Target="../tags/tag46.xml"/><Relationship Id="rId15" Type="http://schemas.openxmlformats.org/officeDocument/2006/relationships/tags" Target="../tags/tag47.xml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13.xml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tags" Target="../tags/tag53.xml"/><Relationship Id="rId7" Type="http://schemas.openxmlformats.org/officeDocument/2006/relationships/tags" Target="../tags/tag54.xml"/><Relationship Id="rId8" Type="http://schemas.openxmlformats.org/officeDocument/2006/relationships/tags" Target="../tags/tag55.xml"/><Relationship Id="rId9" Type="http://schemas.openxmlformats.org/officeDocument/2006/relationships/tags" Target="../tags/tag56.xml"/><Relationship Id="rId10" Type="http://schemas.openxmlformats.org/officeDocument/2006/relationships/tags" Target="../tags/tag57.xml"/><Relationship Id="rId11" Type="http://schemas.openxmlformats.org/officeDocument/2006/relationships/tags" Target="../tags/tag58.xml"/><Relationship Id="rId12" Type="http://schemas.openxmlformats.org/officeDocument/2006/relationships/tags" Target="../tags/tag59.xml"/><Relationship Id="rId13" Type="http://schemas.openxmlformats.org/officeDocument/2006/relationships/tags" Target="../tags/tag60.xml"/><Relationship Id="rId14" Type="http://schemas.openxmlformats.org/officeDocument/2006/relationships/tags" Target="../tags/tag61.xml"/><Relationship Id="rId15" Type="http://schemas.openxmlformats.org/officeDocument/2006/relationships/tags" Target="../tags/tag62.xml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14.xml"/><Relationship Id="rId18" Type="http://schemas.openxmlformats.org/officeDocument/2006/relationships/image" Target="../media/image17.png"/><Relationship Id="rId19" Type="http://schemas.openxmlformats.org/officeDocument/2006/relationships/image" Target="../media/image18.jpe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9.png"/><Relationship Id="rId2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tags" Target="../tags/tag73.xml"/><Relationship Id="rId12" Type="http://schemas.openxmlformats.org/officeDocument/2006/relationships/tags" Target="../tags/tag74.xml"/><Relationship Id="rId13" Type="http://schemas.openxmlformats.org/officeDocument/2006/relationships/tags" Target="../tags/tag75.xml"/><Relationship Id="rId14" Type="http://schemas.openxmlformats.org/officeDocument/2006/relationships/tags" Target="../tags/tag76.xml"/><Relationship Id="rId15" Type="http://schemas.openxmlformats.org/officeDocument/2006/relationships/tags" Target="../tags/tag77.xml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15.xml"/><Relationship Id="rId18" Type="http://schemas.openxmlformats.org/officeDocument/2006/relationships/image" Target="../media/image17.png"/><Relationship Id="rId19" Type="http://schemas.openxmlformats.org/officeDocument/2006/relationships/image" Target="../media/image18.jpe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9.png"/><Relationship Id="rId2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tags" Target="../tags/tag83.xml"/><Relationship Id="rId7" Type="http://schemas.openxmlformats.org/officeDocument/2006/relationships/tags" Target="../tags/tag84.xml"/><Relationship Id="rId8" Type="http://schemas.openxmlformats.org/officeDocument/2006/relationships/tags" Target="../tags/tag85.xml"/><Relationship Id="rId9" Type="http://schemas.openxmlformats.org/officeDocument/2006/relationships/tags" Target="../tags/tag86.xml"/><Relationship Id="rId10" Type="http://schemas.openxmlformats.org/officeDocument/2006/relationships/tags" Target="../tags/tag87.xml"/><Relationship Id="rId11" Type="http://schemas.openxmlformats.org/officeDocument/2006/relationships/tags" Target="../tags/tag88.xml"/><Relationship Id="rId12" Type="http://schemas.openxmlformats.org/officeDocument/2006/relationships/tags" Target="../tags/tag89.xml"/><Relationship Id="rId13" Type="http://schemas.openxmlformats.org/officeDocument/2006/relationships/tags" Target="../tags/tag90.xml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16.xml"/><Relationship Id="rId16" Type="http://schemas.openxmlformats.org/officeDocument/2006/relationships/image" Target="../media/image17.png"/><Relationship Id="rId17" Type="http://schemas.openxmlformats.org/officeDocument/2006/relationships/image" Target="../media/image18.jpe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4.png"/><Relationship Id="rId21" Type="http://schemas.openxmlformats.org/officeDocument/2006/relationships/image" Target="../media/image9.png"/><Relationship Id="rId2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tags" Target="../tags/tag93.xml"/><Relationship Id="rId4" Type="http://schemas.openxmlformats.org/officeDocument/2006/relationships/tags" Target="../tags/tag94.xml"/><Relationship Id="rId5" Type="http://schemas.openxmlformats.org/officeDocument/2006/relationships/tags" Target="../tags/tag95.xml"/><Relationship Id="rId6" Type="http://schemas.openxmlformats.org/officeDocument/2006/relationships/tags" Target="../tags/tag96.xml"/><Relationship Id="rId7" Type="http://schemas.openxmlformats.org/officeDocument/2006/relationships/tags" Target="../tags/tag97.xml"/><Relationship Id="rId8" Type="http://schemas.openxmlformats.org/officeDocument/2006/relationships/tags" Target="../tags/tag98.xml"/><Relationship Id="rId9" Type="http://schemas.openxmlformats.org/officeDocument/2006/relationships/tags" Target="../tags/tag99.xml"/><Relationship Id="rId10" Type="http://schemas.openxmlformats.org/officeDocument/2006/relationships/tags" Target="../tags/tag100.xml"/><Relationship Id="rId11" Type="http://schemas.openxmlformats.org/officeDocument/2006/relationships/tags" Target="../tags/tag101.xml"/><Relationship Id="rId12" Type="http://schemas.openxmlformats.org/officeDocument/2006/relationships/tags" Target="../tags/tag102.xml"/><Relationship Id="rId13" Type="http://schemas.openxmlformats.org/officeDocument/2006/relationships/tags" Target="../tags/tag103.xml"/><Relationship Id="rId14" Type="http://schemas.openxmlformats.org/officeDocument/2006/relationships/tags" Target="../tags/tag104.xml"/><Relationship Id="rId15" Type="http://schemas.openxmlformats.org/officeDocument/2006/relationships/tags" Target="../tags/tag105.xml"/><Relationship Id="rId16" Type="http://schemas.openxmlformats.org/officeDocument/2006/relationships/tags" Target="../tags/tag106.xml"/><Relationship Id="rId17" Type="http://schemas.openxmlformats.org/officeDocument/2006/relationships/tags" Target="../tags/tag107.xml"/><Relationship Id="rId18" Type="http://schemas.openxmlformats.org/officeDocument/2006/relationships/tags" Target="../tags/tag108.xml"/><Relationship Id="rId19" Type="http://schemas.openxmlformats.org/officeDocument/2006/relationships/tags" Target="../tags/tag109.xml"/><Relationship Id="rId20" Type="http://schemas.openxmlformats.org/officeDocument/2006/relationships/tags" Target="../tags/tag110.xml"/><Relationship Id="rId21" Type="http://schemas.openxmlformats.org/officeDocument/2006/relationships/tags" Target="../tags/tag111.xml"/><Relationship Id="rId22" Type="http://schemas.openxmlformats.org/officeDocument/2006/relationships/tags" Target="../tags/tag112.xml"/><Relationship Id="rId23" Type="http://schemas.openxmlformats.org/officeDocument/2006/relationships/tags" Target="../tags/tag113.xml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18.xml"/><Relationship Id="rId26" Type="http://schemas.openxmlformats.org/officeDocument/2006/relationships/image" Target="../media/image17.png"/><Relationship Id="rId27" Type="http://schemas.openxmlformats.org/officeDocument/2006/relationships/image" Target="../media/image19.png"/><Relationship Id="rId28" Type="http://schemas.openxmlformats.org/officeDocument/2006/relationships/image" Target="../media/image20.png"/><Relationship Id="rId29" Type="http://schemas.openxmlformats.org/officeDocument/2006/relationships/image" Target="../media/image18.jpeg"/><Relationship Id="rId30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tags" Target="../tags/tag118.xml"/><Relationship Id="rId6" Type="http://schemas.openxmlformats.org/officeDocument/2006/relationships/tags" Target="../tags/tag119.xml"/><Relationship Id="rId7" Type="http://schemas.openxmlformats.org/officeDocument/2006/relationships/tags" Target="../tags/tag120.xml"/><Relationship Id="rId8" Type="http://schemas.openxmlformats.org/officeDocument/2006/relationships/tags" Target="../tags/tag121.xml"/><Relationship Id="rId9" Type="http://schemas.openxmlformats.org/officeDocument/2006/relationships/tags" Target="../tags/tag122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12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1.jpeg"/><Relationship Id="rId5" Type="http://schemas.openxmlformats.org/officeDocument/2006/relationships/image" Target="../media/image22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2306955" y="2044065"/>
            <a:ext cx="7424420" cy="85217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数据传输方式多</a:t>
            </a:r>
          </a:p>
        </p:txBody>
      </p:sp>
      <p:sp>
        <p:nvSpPr>
          <p:cNvPr id="6" name="副标题 2"/>
          <p:cNvSpPr txBox="1"/>
          <p:nvPr/>
        </p:nvSpPr>
        <p:spPr>
          <a:xfrm>
            <a:off x="1667510" y="3503295"/>
            <a:ext cx="9534525" cy="1106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年    级：八年级                   学    科：</a:t>
            </a:r>
            <a:r>
              <a:rPr lang="zh-CN" altLang="en-US" sz="2800" dirty="0">
                <a:solidFill>
                  <a:prstClr val="white"/>
                </a:solidFill>
              </a:rPr>
              <a:t>信息科技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8155" y="1001395"/>
            <a:ext cx="5618480" cy="873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数据传输方式多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2E4C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175552" y="4297045"/>
            <a:ext cx="5461000" cy="540257"/>
            <a:chOff x="996174" y="2188583"/>
            <a:chExt cx="5312149" cy="540000"/>
          </a:xfrm>
        </p:grpSpPr>
        <p:grpSp>
          <p:nvGrpSpPr>
            <p:cNvPr id="3" name="组合 2"/>
            <p:cNvGrpSpPr/>
            <p:nvPr/>
          </p:nvGrpSpPr>
          <p:grpSpPr>
            <a:xfrm>
              <a:off x="996174" y="2188583"/>
              <a:ext cx="5312149" cy="540000"/>
              <a:chOff x="1635965" y="1686127"/>
              <a:chExt cx="5918164" cy="601602"/>
            </a:xfrm>
          </p:grpSpPr>
          <p:sp>
            <p:nvSpPr>
              <p:cNvPr id="4" name="圆角矩形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1852735" y="1729967"/>
                <a:ext cx="5701394" cy="528206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矩形 4"/>
              <p:cNvSpPr/>
              <p:nvPr>
                <p:custDataLst>
                  <p:tags r:id="rId9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5122" y="2227300"/>
              <a:ext cx="4990332" cy="460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    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生活中有哪些数据传输的方式？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1175552" y="2889250"/>
            <a:ext cx="5461000" cy="539750"/>
            <a:chOff x="4439" y="3920"/>
            <a:chExt cx="8600" cy="850"/>
          </a:xfrm>
        </p:grpSpPr>
        <p:grpSp>
          <p:nvGrpSpPr>
            <p:cNvPr id="9" name="组合 8"/>
            <p:cNvGrpSpPr/>
            <p:nvPr>
              <p:custDataLst>
                <p:tags r:id="rId3"/>
              </p:custDataLst>
            </p:nvPr>
          </p:nvGrpSpPr>
          <p:grpSpPr>
            <a:xfrm>
              <a:off x="4439" y="3920"/>
              <a:ext cx="8600" cy="850"/>
              <a:chOff x="7529" y="2240"/>
              <a:chExt cx="8600" cy="850"/>
            </a:xfrm>
          </p:grpSpPr>
          <p:sp>
            <p:nvSpPr>
              <p:cNvPr id="10" name="圆角矩形 28"/>
              <p:cNvSpPr/>
              <p:nvPr>
                <p:custDataLst>
                  <p:tags r:id="rId5"/>
                </p:custDataLst>
              </p:nvPr>
            </p:nvSpPr>
            <p:spPr>
              <a:xfrm>
                <a:off x="7844" y="2302"/>
                <a:ext cx="8285" cy="747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矩形 10"/>
              <p:cNvSpPr/>
              <p:nvPr>
                <p:custDataLst>
                  <p:tags r:id="rId6"/>
                </p:custDataLst>
              </p:nvPr>
            </p:nvSpPr>
            <p:spPr>
              <a:xfrm rot="18614181">
                <a:off x="7541" y="2228"/>
                <a:ext cx="850" cy="874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4584" y="4010"/>
              <a:ext cx="8455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      </a:t>
              </a:r>
              <a:r>
                <a:rPr lang="zh-CN" altLang="en-US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物联系统中数据是怎样传输的？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61689" y="2206304"/>
            <a:ext cx="10430510" cy="2281805"/>
            <a:chOff x="1761689" y="2206304"/>
            <a:chExt cx="10430510" cy="2281805"/>
          </a:xfrm>
          <a:solidFill>
            <a:schemeClr val="bg1">
              <a:lumMod val="75000"/>
            </a:schemeClr>
          </a:solidFill>
        </p:grpSpPr>
        <p:sp>
          <p:nvSpPr>
            <p:cNvPr id="9" name="矩形 1"/>
            <p:cNvSpPr/>
            <p:nvPr/>
          </p:nvSpPr>
          <p:spPr>
            <a:xfrm rot="10800000">
              <a:off x="1761689" y="2206304"/>
              <a:ext cx="1904301" cy="2281805"/>
            </a:xfrm>
            <a:custGeom>
              <a:avLst/>
              <a:gdLst>
                <a:gd name="connsiteX0" fmla="*/ 0 w 1904301"/>
                <a:gd name="connsiteY0" fmla="*/ 0 h 2281805"/>
                <a:gd name="connsiteX1" fmla="*/ 1904301 w 1904301"/>
                <a:gd name="connsiteY1" fmla="*/ 0 h 2281805"/>
                <a:gd name="connsiteX2" fmla="*/ 1904301 w 1904301"/>
                <a:gd name="connsiteY2" fmla="*/ 2281805 h 2281805"/>
                <a:gd name="connsiteX3" fmla="*/ 0 w 1904301"/>
                <a:gd name="connsiteY3" fmla="*/ 2281805 h 2281805"/>
                <a:gd name="connsiteX4" fmla="*/ 0 w 1904301"/>
                <a:gd name="connsiteY4" fmla="*/ 0 h 2281805"/>
                <a:gd name="connsiteX0-1" fmla="*/ 0 w 1904301"/>
                <a:gd name="connsiteY0-2" fmla="*/ 0 h 2281805"/>
                <a:gd name="connsiteX1-3" fmla="*/ 1904301 w 1904301"/>
                <a:gd name="connsiteY1-4" fmla="*/ 0 h 2281805"/>
                <a:gd name="connsiteX2-5" fmla="*/ 1476462 w 1904301"/>
                <a:gd name="connsiteY2-6" fmla="*/ 2281805 h 2281805"/>
                <a:gd name="connsiteX3-7" fmla="*/ 0 w 1904301"/>
                <a:gd name="connsiteY3-8" fmla="*/ 2281805 h 2281805"/>
                <a:gd name="connsiteX4-9" fmla="*/ 0 w 1904301"/>
                <a:gd name="connsiteY4-10" fmla="*/ 0 h 22818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04301" h="2281805">
                  <a:moveTo>
                    <a:pt x="0" y="0"/>
                  </a:moveTo>
                  <a:lnTo>
                    <a:pt x="1904301" y="0"/>
                  </a:lnTo>
                  <a:lnTo>
                    <a:pt x="1476462" y="2281805"/>
                  </a:lnTo>
                  <a:lnTo>
                    <a:pt x="0" y="22818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473014" y="2206304"/>
              <a:ext cx="8719185" cy="22815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0" y="2206304"/>
            <a:ext cx="1904301" cy="2281805"/>
          </a:xfrm>
          <a:custGeom>
            <a:avLst/>
            <a:gdLst>
              <a:gd name="connsiteX0" fmla="*/ 0 w 1904301"/>
              <a:gd name="connsiteY0" fmla="*/ 0 h 2281805"/>
              <a:gd name="connsiteX1" fmla="*/ 1904301 w 1904301"/>
              <a:gd name="connsiteY1" fmla="*/ 0 h 2281805"/>
              <a:gd name="connsiteX2" fmla="*/ 1904301 w 1904301"/>
              <a:gd name="connsiteY2" fmla="*/ 2281805 h 2281805"/>
              <a:gd name="connsiteX3" fmla="*/ 0 w 1904301"/>
              <a:gd name="connsiteY3" fmla="*/ 2281805 h 2281805"/>
              <a:gd name="connsiteX4" fmla="*/ 0 w 1904301"/>
              <a:gd name="connsiteY4" fmla="*/ 0 h 2281805"/>
              <a:gd name="connsiteX0-1" fmla="*/ 0 w 1904301"/>
              <a:gd name="connsiteY0-2" fmla="*/ 0 h 2281805"/>
              <a:gd name="connsiteX1-3" fmla="*/ 1904301 w 1904301"/>
              <a:gd name="connsiteY1-4" fmla="*/ 0 h 2281805"/>
              <a:gd name="connsiteX2-5" fmla="*/ 1476462 w 1904301"/>
              <a:gd name="connsiteY2-6" fmla="*/ 2281805 h 2281805"/>
              <a:gd name="connsiteX3-7" fmla="*/ 0 w 1904301"/>
              <a:gd name="connsiteY3-8" fmla="*/ 2281805 h 2281805"/>
              <a:gd name="connsiteX4-9" fmla="*/ 0 w 1904301"/>
              <a:gd name="connsiteY4-10" fmla="*/ 0 h 22818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04301" h="2281805">
                <a:moveTo>
                  <a:pt x="0" y="0"/>
                </a:moveTo>
                <a:lnTo>
                  <a:pt x="1904301" y="0"/>
                </a:lnTo>
                <a:lnTo>
                  <a:pt x="1476462" y="2281805"/>
                </a:lnTo>
                <a:lnTo>
                  <a:pt x="0" y="2281805"/>
                </a:lnTo>
                <a:lnTo>
                  <a:pt x="0" y="0"/>
                </a:lnTo>
                <a:close/>
              </a:path>
            </a:pathLst>
          </a:cu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38361" y="2664662"/>
            <a:ext cx="2365696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694E5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</a:t>
            </a:r>
            <a:r>
              <a:rPr lang="zh-CN" altLang="en-US" sz="3300" b="1" dirty="0">
                <a:solidFill>
                  <a:srgbClr val="694E57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kumimoji="0" lang="zh-CN" altLang="en-US" sz="3300" b="1" i="0" u="none" strike="noStrike" kern="1200" cap="none" spc="0" normalizeH="0" baseline="0" noProof="0" dirty="0">
              <a:ln>
                <a:noFill/>
              </a:ln>
              <a:solidFill>
                <a:srgbClr val="694E5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38400" y="3332480"/>
            <a:ext cx="911733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探析物联系统中的数据传输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986405" y="764540"/>
            <a:ext cx="6551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：说一说共享单车的使用过程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55" y="2841942"/>
            <a:ext cx="991235" cy="27882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863" y="2945129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6886"/>
          <a:stretch>
            <a:fillRect/>
          </a:stretch>
        </p:blipFill>
        <p:spPr>
          <a:xfrm>
            <a:off x="5099135" y="2948054"/>
            <a:ext cx="3013710" cy="2581910"/>
          </a:xfrm>
          <a:prstGeom prst="roundRect">
            <a:avLst>
              <a:gd name="adj" fmla="val 6726"/>
            </a:avLst>
          </a:prstGeom>
        </p:spPr>
      </p:pic>
      <p:grpSp>
        <p:nvGrpSpPr>
          <p:cNvPr id="18" name="组合 17"/>
          <p:cNvGrpSpPr/>
          <p:nvPr/>
        </p:nvGrpSpPr>
        <p:grpSpPr>
          <a:xfrm>
            <a:off x="8276590" y="2929890"/>
            <a:ext cx="3124200" cy="2582074"/>
            <a:chOff x="13034" y="4614"/>
            <a:chExt cx="4920" cy="406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rcRect l="6211" r="29189"/>
            <a:stretch>
              <a:fillRect/>
            </a:stretch>
          </p:blipFill>
          <p:spPr>
            <a:xfrm>
              <a:off x="13034" y="4614"/>
              <a:ext cx="4920" cy="4066"/>
            </a:xfrm>
            <a:prstGeom prst="roundRect">
              <a:avLst>
                <a:gd name="adj" fmla="val 8590"/>
              </a:avLst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rcRect b="23993"/>
            <a:stretch>
              <a:fillRect/>
            </a:stretch>
          </p:blipFill>
          <p:spPr>
            <a:xfrm>
              <a:off x="13350" y="5889"/>
              <a:ext cx="1817" cy="279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6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532" y="3389263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 descr="卡通人物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6" name="图片 5" descr="图示&#10;&#10;描述已自动生成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14" name="图片 13" descr="图示&#10;&#10;描述已自动生成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20" name="图片 19" descr="图示&#10;&#10;描述已自动生成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V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245522" y="3350528"/>
            <a:ext cx="8178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?</a:t>
            </a:r>
          </a:p>
        </p:txBody>
      </p:sp>
      <p:cxnSp>
        <p:nvCxnSpPr>
          <p:cNvPr id="23" name="直接箭头连接符 22"/>
          <p:cNvCxnSpPr>
            <a:endCxn id="10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上传位置数据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8963025" y="4983480"/>
            <a:ext cx="341630" cy="499745"/>
            <a:chOff x="12314" y="-3585"/>
            <a:chExt cx="1198" cy="1750"/>
          </a:xfrm>
        </p:grpSpPr>
        <p:sp>
          <p:nvSpPr>
            <p:cNvPr id="28" name="椭圆 27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2785" y="-2549"/>
              <a:ext cx="257" cy="71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50" grpId="0"/>
      <p:bldP spid="5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532" y="3389263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 descr="卡通人物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6" name="图片 5" descr="图示&#10;&#10;描述已自动生成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14" name="图片 13" descr="图示&#10;&#10;描述已自动生成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20" name="图片 19" descr="图示&#10;&#10;描述已自动生成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V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0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上传位置数据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>
            <a:off x="5730904" y="3270692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215745" y="2399933"/>
            <a:ext cx="31724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超低功耗、信号稳定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传输距离远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endParaRPr lang="zh-CN" altLang="en-US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8963025" y="4983480"/>
            <a:ext cx="341630" cy="499745"/>
            <a:chOff x="12314" y="-3585"/>
            <a:chExt cx="1198" cy="1750"/>
          </a:xfrm>
        </p:grpSpPr>
        <p:sp>
          <p:nvSpPr>
            <p:cNvPr id="24" name="椭圆 23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2785" y="-2549"/>
              <a:ext cx="257" cy="71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670290" y="4888230"/>
            <a:ext cx="288290" cy="288925"/>
            <a:chOff x="12314" y="-3585"/>
            <a:chExt cx="1198" cy="1198"/>
          </a:xfrm>
        </p:grpSpPr>
        <p:sp>
          <p:nvSpPr>
            <p:cNvPr id="30" name="椭圆 29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039225" y="5594985"/>
            <a:ext cx="288290" cy="288925"/>
            <a:chOff x="12314" y="-3585"/>
            <a:chExt cx="1198" cy="1198"/>
          </a:xfrm>
        </p:grpSpPr>
        <p:sp>
          <p:nvSpPr>
            <p:cNvPr id="34" name="椭圆 33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rcRect l="6886"/>
          <a:stretch>
            <a:fillRect/>
          </a:stretch>
        </p:blipFill>
        <p:spPr>
          <a:xfrm>
            <a:off x="7762240" y="3414395"/>
            <a:ext cx="3013710" cy="2581910"/>
          </a:xfrm>
          <a:prstGeom prst="round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3" name="图片 2" descr="图示&#10;&#10;描述已自动生成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36" name="图片 35" descr="图示&#10;&#10;描述已自动生成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40" name="图片 39" descr="图示&#10;&#10;描述已自动生成"/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>
          <a:xfrm flipH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7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发送开锁请求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34415" y="2399665"/>
            <a:ext cx="335407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发送开锁指令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45" grpId="0"/>
      <p:bldP spid="4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24"/>
          <a:srcRect l="6886"/>
          <a:stretch>
            <a:fillRect/>
          </a:stretch>
        </p:blipFill>
        <p:spPr>
          <a:xfrm>
            <a:off x="7762240" y="3414395"/>
            <a:ext cx="3013710" cy="2581910"/>
          </a:xfrm>
          <a:prstGeom prst="round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3" name="图片 2" descr="图示&#10;&#10;描述已自动生成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7" name="矩形 6"/>
            <p:cNvSpPr/>
            <p:nvPr>
              <p:custDataLst>
                <p:tags r:id="rId21"/>
              </p:custDataLst>
            </p:nvPr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36" name="图片 35" descr="图示&#10;&#10;描述已自动生成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37" name="矩形 36"/>
            <p:cNvSpPr/>
            <p:nvPr>
              <p:custDataLst>
                <p:tags r:id="rId19"/>
              </p:custDataLst>
            </p:nvPr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38" name="组合 37"/>
          <p:cNvGrpSpPr/>
          <p:nvPr>
            <p:custDataLst>
              <p:tags r:id="rId3"/>
            </p:custDataLst>
          </p:nvPr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40" name="图片 39" descr="图示&#10;&#10;描述已自动生成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41" name="矩形 40"/>
            <p:cNvSpPr/>
            <p:nvPr>
              <p:custDataLst>
                <p:tags r:id="rId17"/>
              </p:custDataLst>
            </p:nvPr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42" name="直接箭头连接符 41"/>
          <p:cNvCxnSpPr/>
          <p:nvPr>
            <p:custDataLst>
              <p:tags r:id="rId4"/>
            </p:custDataLst>
          </p:nvPr>
        </p:nvCxnSpPr>
        <p:spPr>
          <a:xfrm flipH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7" idx="3"/>
          </p:cNvCxnSpPr>
          <p:nvPr>
            <p:custDataLst>
              <p:tags r:id="rId5"/>
            </p:custDataLst>
          </p:nvPr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发送开锁请求</a:t>
            </a: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1034415" y="2399665"/>
            <a:ext cx="335407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发送开锁指令</a:t>
            </a:r>
          </a:p>
        </p:txBody>
      </p: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5984240" y="3556635"/>
            <a:ext cx="1056640" cy="618490"/>
            <a:chOff x="3516" y="4754"/>
            <a:chExt cx="1664" cy="974"/>
          </a:xfrm>
        </p:grpSpPr>
        <p:grpSp>
          <p:nvGrpSpPr>
            <p:cNvPr id="33" name="组合 32"/>
            <p:cNvGrpSpPr/>
            <p:nvPr/>
          </p:nvGrpSpPr>
          <p:grpSpPr>
            <a:xfrm>
              <a:off x="3516" y="4812"/>
              <a:ext cx="806" cy="758"/>
              <a:chOff x="3841" y="-1240"/>
              <a:chExt cx="806" cy="758"/>
            </a:xfrm>
            <a:solidFill>
              <a:schemeClr val="bg1"/>
            </a:solidFill>
          </p:grpSpPr>
          <p:sp>
            <p:nvSpPr>
              <p:cNvPr id="30" name="矩形 29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41" y="-838"/>
                <a:ext cx="212" cy="357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>
                <p:custDataLst>
                  <p:tags r:id="rId14"/>
                </p:custDataLst>
              </p:nvPr>
            </p:nvSpPr>
            <p:spPr>
              <a:xfrm>
                <a:off x="4138" y="-1018"/>
                <a:ext cx="212" cy="537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>
                <p:custDataLst>
                  <p:tags r:id="rId15"/>
                </p:custDataLst>
              </p:nvPr>
            </p:nvSpPr>
            <p:spPr>
              <a:xfrm>
                <a:off x="4435" y="-1240"/>
                <a:ext cx="212" cy="759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乘号 28"/>
            <p:cNvSpPr/>
            <p:nvPr>
              <p:custDataLst>
                <p:tags r:id="rId12"/>
              </p:custDataLst>
            </p:nvPr>
          </p:nvSpPr>
          <p:spPr>
            <a:xfrm>
              <a:off x="4206" y="4754"/>
              <a:ext cx="974" cy="974"/>
            </a:xfrm>
            <a:prstGeom prst="mathMultiply">
              <a:avLst>
                <a:gd name="adj1" fmla="val 15092"/>
              </a:avLst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卡通人物&#10;&#10;描述已自动生成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4053809" y="3755526"/>
            <a:ext cx="2368581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蓝牙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无网络、短距离</a:t>
            </a:r>
            <a:endParaRPr lang="en-US" altLang="zh-CN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小数据量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endParaRPr lang="zh-CN" altLang="en-US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10"/>
            </p:custDataLst>
          </p:nvPr>
        </p:nvCxnSpPr>
        <p:spPr>
          <a:xfrm flipH="1">
            <a:off x="3595407" y="5275139"/>
            <a:ext cx="3204845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cxnSp>
        <p:nvCxnSpPr>
          <p:cNvPr id="2" name="直接箭头连接符 1"/>
          <p:cNvCxnSpPr/>
          <p:nvPr>
            <p:custDataLst>
              <p:tags r:id="rId11"/>
            </p:custDataLst>
          </p:nvPr>
        </p:nvCxnSpPr>
        <p:spPr>
          <a:xfrm>
            <a:off x="3595407" y="5406437"/>
            <a:ext cx="3204845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/>
      <p:bldP spid="45" grpId="1"/>
      <p:bldP spid="28" grpId="0"/>
      <p:bldP spid="2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31355" y="4455795"/>
            <a:ext cx="47269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通常为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蓝牙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 Cat.1</a:t>
            </a:r>
            <a:endParaRPr lang="zh-CN" altLang="en-US" sz="2400" dirty="0">
              <a:solidFill>
                <a:srgbClr val="2E4C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5965" y="4868545"/>
            <a:ext cx="3352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核心部件</a:t>
            </a:r>
            <a:r>
              <a:rPr lang="en-US" altLang="zh-CN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智能车锁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27574" y="2239645"/>
            <a:ext cx="48310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微控制器：用于控制整个智能锁</a:t>
            </a:r>
          </a:p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电池：为智能锁供电</a:t>
            </a:r>
          </a:p>
          <a:p>
            <a:pPr algn="l">
              <a:lnSpc>
                <a:spcPct val="200000"/>
              </a:lnSpc>
            </a:pPr>
            <a:r>
              <a:rPr lang="en-US" altLang="zh-CN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GPS</a:t>
            </a: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模块：定位</a:t>
            </a:r>
          </a:p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数据传输模块：</a:t>
            </a:r>
          </a:p>
        </p:txBody>
      </p:sp>
      <p:pic>
        <p:nvPicPr>
          <p:cNvPr id="5" name="图片 4" descr="生成共享单车车锁图片"/>
          <p:cNvPicPr>
            <a:picLocks noChangeAspect="1"/>
          </p:cNvPicPr>
          <p:nvPr/>
        </p:nvPicPr>
        <p:blipFill>
          <a:blip r:embed="rId3"/>
          <a:srcRect l="10040" t="11157" r="4831" b="7066"/>
          <a:stretch>
            <a:fillRect/>
          </a:stretch>
        </p:blipFill>
        <p:spPr>
          <a:xfrm>
            <a:off x="1012190" y="2118360"/>
            <a:ext cx="2800350" cy="2689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61689" y="2206304"/>
            <a:ext cx="5892800" cy="2281805"/>
            <a:chOff x="1761689" y="2206304"/>
            <a:chExt cx="5892800" cy="2281805"/>
          </a:xfrm>
          <a:solidFill>
            <a:schemeClr val="bg1">
              <a:lumMod val="75000"/>
            </a:schemeClr>
          </a:solidFill>
        </p:grpSpPr>
        <p:sp>
          <p:nvSpPr>
            <p:cNvPr id="9" name="矩形 1"/>
            <p:cNvSpPr/>
            <p:nvPr/>
          </p:nvSpPr>
          <p:spPr>
            <a:xfrm rot="10800000">
              <a:off x="1761689" y="2206304"/>
              <a:ext cx="1904301" cy="2281805"/>
            </a:xfrm>
            <a:custGeom>
              <a:avLst/>
              <a:gdLst>
                <a:gd name="connsiteX0" fmla="*/ 0 w 1904301"/>
                <a:gd name="connsiteY0" fmla="*/ 0 h 2281805"/>
                <a:gd name="connsiteX1" fmla="*/ 1904301 w 1904301"/>
                <a:gd name="connsiteY1" fmla="*/ 0 h 2281805"/>
                <a:gd name="connsiteX2" fmla="*/ 1904301 w 1904301"/>
                <a:gd name="connsiteY2" fmla="*/ 2281805 h 2281805"/>
                <a:gd name="connsiteX3" fmla="*/ 0 w 1904301"/>
                <a:gd name="connsiteY3" fmla="*/ 2281805 h 2281805"/>
                <a:gd name="connsiteX4" fmla="*/ 0 w 1904301"/>
                <a:gd name="connsiteY4" fmla="*/ 0 h 2281805"/>
                <a:gd name="connsiteX0-1" fmla="*/ 0 w 1904301"/>
                <a:gd name="connsiteY0-2" fmla="*/ 0 h 2281805"/>
                <a:gd name="connsiteX1-3" fmla="*/ 1904301 w 1904301"/>
                <a:gd name="connsiteY1-4" fmla="*/ 0 h 2281805"/>
                <a:gd name="connsiteX2-5" fmla="*/ 1476462 w 1904301"/>
                <a:gd name="connsiteY2-6" fmla="*/ 2281805 h 2281805"/>
                <a:gd name="connsiteX3-7" fmla="*/ 0 w 1904301"/>
                <a:gd name="connsiteY3-8" fmla="*/ 2281805 h 2281805"/>
                <a:gd name="connsiteX4-9" fmla="*/ 0 w 1904301"/>
                <a:gd name="connsiteY4-10" fmla="*/ 0 h 22818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04301" h="2281805">
                  <a:moveTo>
                    <a:pt x="0" y="0"/>
                  </a:moveTo>
                  <a:lnTo>
                    <a:pt x="1904301" y="0"/>
                  </a:lnTo>
                  <a:lnTo>
                    <a:pt x="1476462" y="2281805"/>
                  </a:lnTo>
                  <a:lnTo>
                    <a:pt x="0" y="22818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473014" y="2206304"/>
              <a:ext cx="4181475" cy="22815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0" y="2206304"/>
            <a:ext cx="1904301" cy="2281805"/>
          </a:xfrm>
          <a:custGeom>
            <a:avLst/>
            <a:gdLst>
              <a:gd name="connsiteX0" fmla="*/ 0 w 1904301"/>
              <a:gd name="connsiteY0" fmla="*/ 0 h 2281805"/>
              <a:gd name="connsiteX1" fmla="*/ 1904301 w 1904301"/>
              <a:gd name="connsiteY1" fmla="*/ 0 h 2281805"/>
              <a:gd name="connsiteX2" fmla="*/ 1904301 w 1904301"/>
              <a:gd name="connsiteY2" fmla="*/ 2281805 h 2281805"/>
              <a:gd name="connsiteX3" fmla="*/ 0 w 1904301"/>
              <a:gd name="connsiteY3" fmla="*/ 2281805 h 2281805"/>
              <a:gd name="connsiteX4" fmla="*/ 0 w 1904301"/>
              <a:gd name="connsiteY4" fmla="*/ 0 h 2281805"/>
              <a:gd name="connsiteX0-1" fmla="*/ 0 w 1904301"/>
              <a:gd name="connsiteY0-2" fmla="*/ 0 h 2281805"/>
              <a:gd name="connsiteX1-3" fmla="*/ 1904301 w 1904301"/>
              <a:gd name="connsiteY1-4" fmla="*/ 0 h 2281805"/>
              <a:gd name="connsiteX2-5" fmla="*/ 1476462 w 1904301"/>
              <a:gd name="connsiteY2-6" fmla="*/ 2281805 h 2281805"/>
              <a:gd name="connsiteX3-7" fmla="*/ 0 w 1904301"/>
              <a:gd name="connsiteY3-8" fmla="*/ 2281805 h 2281805"/>
              <a:gd name="connsiteX4-9" fmla="*/ 0 w 1904301"/>
              <a:gd name="connsiteY4-10" fmla="*/ 0 h 22818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04301" h="2281805">
                <a:moveTo>
                  <a:pt x="0" y="0"/>
                </a:moveTo>
                <a:lnTo>
                  <a:pt x="1904301" y="0"/>
                </a:lnTo>
                <a:lnTo>
                  <a:pt x="1476462" y="2281805"/>
                </a:lnTo>
                <a:lnTo>
                  <a:pt x="0" y="2281805"/>
                </a:lnTo>
                <a:lnTo>
                  <a:pt x="0" y="0"/>
                </a:lnTo>
                <a:close/>
              </a:path>
            </a:pathLst>
          </a:cu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38361" y="2474797"/>
            <a:ext cx="2365696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94E5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</a:t>
            </a:r>
            <a:r>
              <a:rPr lang="zh-CN" altLang="en-US" sz="2800" b="1" dirty="0">
                <a:solidFill>
                  <a:srgbClr val="694E57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38400" y="3141980"/>
            <a:ext cx="43802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多种数据传输方式的选择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986405" y="764540"/>
            <a:ext cx="6551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数据传输方式的分类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2270882" y="1947204"/>
            <a:ext cx="1452601" cy="9322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有线数据</a:t>
            </a:r>
            <a:endParaRPr lang="en-US" altLang="zh-CN" sz="2400" dirty="0">
              <a:solidFill>
                <a:srgbClr val="3B56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3600"/>
              </a:lnSpc>
            </a:pP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传输方式</a:t>
            </a:r>
          </a:p>
        </p:txBody>
      </p:sp>
      <p:pic>
        <p:nvPicPr>
          <p:cNvPr id="30" name="图片 29" descr="图片包含 电缆, 器具, 游戏机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522" y="1809954"/>
            <a:ext cx="1800860" cy="1195705"/>
          </a:xfrm>
          <a:prstGeom prst="rect">
            <a:avLst/>
          </a:prstGeom>
        </p:spPr>
      </p:pic>
      <p:pic>
        <p:nvPicPr>
          <p:cNvPr id="31" name="图片 30" descr="图片包含 电缆, 电路, 游戏机, 电脑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660" y="1809954"/>
            <a:ext cx="1786255" cy="1195705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3802677" y="1957866"/>
            <a:ext cx="1537729" cy="957305"/>
            <a:chOff x="3074967" y="1957866"/>
            <a:chExt cx="1537729" cy="957305"/>
          </a:xfrm>
        </p:grpSpPr>
        <p:sp>
          <p:nvSpPr>
            <p:cNvPr id="14" name="文本框 13"/>
            <p:cNvSpPr txBox="1"/>
            <p:nvPr/>
          </p:nvSpPr>
          <p:spPr>
            <a:xfrm>
              <a:off x="3299222" y="1957866"/>
              <a:ext cx="13134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3B564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双绞线</a:t>
              </a:r>
              <a:endParaRPr lang="zh-CN" altLang="en-US" sz="2400" dirty="0"/>
            </a:p>
          </p:txBody>
        </p:sp>
        <p:sp>
          <p:nvSpPr>
            <p:cNvPr id="17" name="左大括号 16"/>
            <p:cNvSpPr/>
            <p:nvPr/>
          </p:nvSpPr>
          <p:spPr>
            <a:xfrm>
              <a:off x="3074967" y="1999140"/>
              <a:ext cx="96472" cy="916031"/>
            </a:xfrm>
            <a:prstGeom prst="leftBrace">
              <a:avLst>
                <a:gd name="adj1" fmla="val 154180"/>
                <a:gd name="adj2" fmla="val 50000"/>
              </a:avLst>
            </a:prstGeom>
            <a:ln>
              <a:solidFill>
                <a:srgbClr val="3B564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373982" y="2453386"/>
              <a:ext cx="1163955" cy="4445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3B564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光纤等</a:t>
              </a:r>
            </a:p>
          </p:txBody>
        </p:sp>
      </p:grpSp>
      <p:sp>
        <p:nvSpPr>
          <p:cNvPr id="22" name="左大括号 21"/>
          <p:cNvSpPr/>
          <p:nvPr/>
        </p:nvSpPr>
        <p:spPr>
          <a:xfrm>
            <a:off x="2027463" y="2641080"/>
            <a:ext cx="102774" cy="2604687"/>
          </a:xfrm>
          <a:prstGeom prst="leftBrace">
            <a:avLst>
              <a:gd name="adj1" fmla="val 154180"/>
              <a:gd name="adj2" fmla="val 50000"/>
            </a:avLst>
          </a:prstGeom>
          <a:ln>
            <a:solidFill>
              <a:srgbClr val="3B564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270882" y="4563590"/>
            <a:ext cx="1452600" cy="9322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600"/>
              </a:lnSpc>
            </a:pP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无线数据传输方式</a:t>
            </a:r>
          </a:p>
        </p:txBody>
      </p:sp>
      <p:sp>
        <p:nvSpPr>
          <p:cNvPr id="23" name="左大括号 22"/>
          <p:cNvSpPr/>
          <p:nvPr/>
        </p:nvSpPr>
        <p:spPr>
          <a:xfrm>
            <a:off x="3796375" y="4310924"/>
            <a:ext cx="102774" cy="1354117"/>
          </a:xfrm>
          <a:prstGeom prst="leftBrace">
            <a:avLst>
              <a:gd name="adj1" fmla="val 154180"/>
              <a:gd name="adj2" fmla="val 50000"/>
            </a:avLst>
          </a:prstGeom>
          <a:ln>
            <a:solidFill>
              <a:srgbClr val="3B564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568522" y="3683706"/>
            <a:ext cx="2091700" cy="4219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蓝牙、</a:t>
            </a:r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Wi-Fi</a:t>
            </a:r>
            <a:endParaRPr lang="zh-CN" altLang="en-US" sz="2400" dirty="0">
              <a:solidFill>
                <a:srgbClr val="3B56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568522" y="5829845"/>
            <a:ext cx="4085949" cy="45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NB-IoT(</a:t>
            </a: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窄带物联技术</a:t>
            </a:r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568522" y="5291094"/>
            <a:ext cx="1886152" cy="4219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4G/5G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568315" y="4271645"/>
            <a:ext cx="6365875" cy="421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RFID(</a:t>
            </a: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射频识别</a:t>
            </a:r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NFC(</a:t>
            </a: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近场通信</a:t>
            </a:r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ZigBee</a:t>
            </a: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4036422" y="3793790"/>
            <a:ext cx="1334163" cy="916030"/>
            <a:chOff x="3308712" y="3793790"/>
            <a:chExt cx="1334163" cy="916030"/>
          </a:xfrm>
        </p:grpSpPr>
        <p:sp>
          <p:nvSpPr>
            <p:cNvPr id="24" name="文本框 23"/>
            <p:cNvSpPr txBox="1"/>
            <p:nvPr/>
          </p:nvSpPr>
          <p:spPr>
            <a:xfrm>
              <a:off x="3308712" y="3940020"/>
              <a:ext cx="1163955" cy="62357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lnSpc>
                  <a:spcPts val="3600"/>
                </a:lnSpc>
              </a:pPr>
              <a:r>
                <a:rPr lang="zh-CN" altLang="en-US" sz="2400" dirty="0">
                  <a:solidFill>
                    <a:srgbClr val="3B564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近距离</a:t>
              </a:r>
            </a:p>
          </p:txBody>
        </p:sp>
        <p:sp>
          <p:nvSpPr>
            <p:cNvPr id="47" name="左大括号 46"/>
            <p:cNvSpPr/>
            <p:nvPr/>
          </p:nvSpPr>
          <p:spPr>
            <a:xfrm>
              <a:off x="4540101" y="3793790"/>
              <a:ext cx="102774" cy="916030"/>
            </a:xfrm>
            <a:prstGeom prst="leftBrace">
              <a:avLst>
                <a:gd name="adj1" fmla="val 154180"/>
                <a:gd name="adj2" fmla="val 50000"/>
              </a:avLst>
            </a:prstGeom>
            <a:ln>
              <a:solidFill>
                <a:srgbClr val="3B564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036421" y="5366415"/>
            <a:ext cx="1348821" cy="916030"/>
            <a:chOff x="3308711" y="5366415"/>
            <a:chExt cx="1348821" cy="916030"/>
          </a:xfrm>
        </p:grpSpPr>
        <p:sp>
          <p:nvSpPr>
            <p:cNvPr id="25" name="文本框 24"/>
            <p:cNvSpPr txBox="1"/>
            <p:nvPr/>
          </p:nvSpPr>
          <p:spPr>
            <a:xfrm>
              <a:off x="3308711" y="5611553"/>
              <a:ext cx="1163955" cy="62357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lnSpc>
                  <a:spcPts val="3600"/>
                </a:lnSpc>
              </a:pPr>
              <a:r>
                <a:rPr lang="zh-CN" altLang="en-US" sz="2400" dirty="0">
                  <a:solidFill>
                    <a:srgbClr val="3B564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远距离</a:t>
              </a:r>
            </a:p>
          </p:txBody>
        </p:sp>
        <p:sp>
          <p:nvSpPr>
            <p:cNvPr id="48" name="左大括号 47"/>
            <p:cNvSpPr/>
            <p:nvPr/>
          </p:nvSpPr>
          <p:spPr>
            <a:xfrm>
              <a:off x="4554758" y="5366415"/>
              <a:ext cx="102774" cy="916030"/>
            </a:xfrm>
            <a:prstGeom prst="leftBrace">
              <a:avLst>
                <a:gd name="adj1" fmla="val 154180"/>
                <a:gd name="adj2" fmla="val 50000"/>
              </a:avLst>
            </a:prstGeom>
            <a:ln>
              <a:solidFill>
                <a:srgbClr val="3B564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31825" y="3378835"/>
            <a:ext cx="1304925" cy="932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2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数据传输方式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 bldLvl="0" animBg="1"/>
      <p:bldP spid="21" grpId="0"/>
      <p:bldP spid="23" grpId="0" bldLvl="0" animBg="1"/>
      <p:bldP spid="26" grpId="0"/>
      <p:bldP spid="39" grpId="0"/>
      <p:bldP spid="40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384463" y="764540"/>
            <a:ext cx="783776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：议一议有线传输和无线传输优缺点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图片 5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121" y="2587227"/>
            <a:ext cx="869315" cy="2446655"/>
          </a:xfrm>
          <a:prstGeom prst="rect">
            <a:avLst/>
          </a:prstGeom>
        </p:spPr>
      </p:pic>
      <p:pic>
        <p:nvPicPr>
          <p:cNvPr id="44" name="图片 43" descr="卡通人物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23" y="2561192"/>
            <a:ext cx="918845" cy="2472690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964005" y="2750975"/>
          <a:ext cx="6263990" cy="228290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9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6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方式</a:t>
                      </a:r>
                    </a:p>
                  </a:txBody>
                  <a:tcPr anchor="ctr">
                    <a:solidFill>
                      <a:srgbClr val="3B56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优点</a:t>
                      </a:r>
                    </a:p>
                  </a:txBody>
                  <a:tcPr anchor="ctr">
                    <a:solidFill>
                      <a:srgbClr val="3B56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缺点</a:t>
                      </a:r>
                    </a:p>
                  </a:txBody>
                  <a:tcPr anchor="ctr">
                    <a:solidFill>
                      <a:srgbClr val="3B56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有线传输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无线传输</a:t>
                      </a:r>
                      <a:endParaRPr lang="zh-CN" altLang="en-US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45340" y="3312646"/>
            <a:ext cx="1569660" cy="777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依靠物理介质</a:t>
            </a:r>
            <a:endParaRPr lang="en-US" altLang="zh-CN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速度快、稳定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75725" y="4188744"/>
            <a:ext cx="1569660" cy="777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容易受干扰</a:t>
            </a:r>
            <a:endParaRPr lang="en-US" altLang="zh-CN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速度比有线慢</a:t>
            </a:r>
            <a:endParaRPr lang="en-US" altLang="zh-CN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425" y="4188744"/>
            <a:ext cx="1569660" cy="777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灵活性强</a:t>
            </a:r>
            <a:endParaRPr lang="en-US" altLang="zh-CN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使用情境多样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06558" y="3312646"/>
            <a:ext cx="1107996" cy="777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需要接线</a:t>
            </a:r>
            <a:endParaRPr lang="en-US" altLang="zh-CN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不够灵活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03120" y="2271395"/>
            <a:ext cx="1880870" cy="1083310"/>
            <a:chOff x="9293" y="7436"/>
            <a:chExt cx="2962" cy="1706"/>
          </a:xfrm>
        </p:grpSpPr>
        <p:pic>
          <p:nvPicPr>
            <p:cNvPr id="27" name="图片 2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10148" y="7436"/>
              <a:ext cx="1252" cy="926"/>
            </a:xfrm>
            <a:prstGeom prst="rect">
              <a:avLst/>
            </a:prstGeom>
          </p:spPr>
        </p:pic>
        <p:sp>
          <p:nvSpPr>
            <p:cNvPr id="29" name="文本框 15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293" y="8472"/>
              <a:ext cx="2962" cy="670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浸水报警装置</a:t>
              </a:r>
            </a:p>
          </p:txBody>
        </p:sp>
      </p:grpSp>
      <p:grpSp>
        <p:nvGrpSpPr>
          <p:cNvPr id="24" name="组合 23"/>
          <p:cNvGrpSpPr/>
          <p:nvPr>
            <p:custDataLst>
              <p:tags r:id="rId2"/>
            </p:custDataLst>
          </p:nvPr>
        </p:nvGrpSpPr>
        <p:grpSpPr>
          <a:xfrm>
            <a:off x="8361045" y="3666259"/>
            <a:ext cx="1474470" cy="1646786"/>
            <a:chOff x="1447" y="5170"/>
            <a:chExt cx="2481" cy="2809"/>
          </a:xfrm>
        </p:grpSpPr>
        <p:sp>
          <p:nvSpPr>
            <p:cNvPr id="26" name="文本框 1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47" y="7295"/>
              <a:ext cx="2481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智能燃气表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9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09" y="5170"/>
              <a:ext cx="1756" cy="200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571750" y="4083050"/>
            <a:ext cx="1351280" cy="1229360"/>
            <a:chOff x="4050" y="6430"/>
            <a:chExt cx="2128" cy="1936"/>
          </a:xfrm>
        </p:grpSpPr>
        <p:pic>
          <p:nvPicPr>
            <p:cNvPr id="17" name="图片 16" descr="蓝牙扬声器白色背景，库存照片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050" y="6430"/>
              <a:ext cx="2128" cy="1418"/>
            </a:xfrm>
            <a:prstGeom prst="rect">
              <a:avLst/>
            </a:prstGeom>
          </p:spPr>
        </p:pic>
        <p:sp>
          <p:nvSpPr>
            <p:cNvPr id="23" name="文本框 1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121" y="7736"/>
              <a:ext cx="1987" cy="631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家庭音箱</a:t>
              </a:r>
            </a:p>
          </p:txBody>
        </p:sp>
      </p:grpSp>
      <p:cxnSp>
        <p:nvCxnSpPr>
          <p:cNvPr id="21" name="直接连接符 20"/>
          <p:cNvCxnSpPr>
            <a:stCxn id="29" idx="3"/>
          </p:cNvCxnSpPr>
          <p:nvPr>
            <p:custDataLst>
              <p:tags r:id="rId3"/>
            </p:custDataLst>
          </p:nvPr>
        </p:nvCxnSpPr>
        <p:spPr>
          <a:xfrm flipV="1">
            <a:off x="3983990" y="3140710"/>
            <a:ext cx="4767580" cy="1134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4"/>
            </p:custDataLst>
          </p:nvPr>
        </p:nvCxnSpPr>
        <p:spPr>
          <a:xfrm flipV="1">
            <a:off x="3878580" y="5107940"/>
            <a:ext cx="4431030" cy="5080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/>
          <a:srcRect l="2989" r="25818"/>
          <a:stretch>
            <a:fillRect/>
          </a:stretch>
        </p:blipFill>
        <p:spPr>
          <a:xfrm>
            <a:off x="4465320" y="2874645"/>
            <a:ext cx="3490595" cy="2461895"/>
          </a:xfrm>
          <a:prstGeom prst="roundRect">
            <a:avLst>
              <a:gd name="adj" fmla="val 8811"/>
            </a:avLst>
          </a:prstGeom>
        </p:spPr>
      </p:pic>
      <p:grpSp>
        <p:nvGrpSpPr>
          <p:cNvPr id="33" name="组合 32"/>
          <p:cNvGrpSpPr/>
          <p:nvPr>
            <p:custDataLst>
              <p:tags r:id="rId6"/>
            </p:custDataLst>
          </p:nvPr>
        </p:nvGrpSpPr>
        <p:grpSpPr>
          <a:xfrm>
            <a:off x="8597900" y="1890758"/>
            <a:ext cx="1000760" cy="1463675"/>
            <a:chOff x="6297" y="3705"/>
            <a:chExt cx="1748" cy="2556"/>
          </a:xfrm>
        </p:grpSpPr>
        <p:pic>
          <p:nvPicPr>
            <p:cNvPr id="34" name="图片 3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6366" y="3705"/>
              <a:ext cx="1611" cy="1872"/>
            </a:xfrm>
            <a:prstGeom prst="rect">
              <a:avLst/>
            </a:prstGeom>
          </p:spPr>
        </p:pic>
        <p:sp>
          <p:nvSpPr>
            <p:cNvPr id="36" name="文本框 1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297" y="5577"/>
              <a:ext cx="1748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摄像头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303145" y="764540"/>
            <a:ext cx="7918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：找一找生活中的数据传输方式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46" y="3739117"/>
            <a:ext cx="869315" cy="244665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0005650" y="2260500"/>
            <a:ext cx="7918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Wi-Fi</a:t>
            </a: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0005650" y="2659598"/>
            <a:ext cx="182626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距离：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50-100m</a:t>
            </a:r>
            <a:endParaRPr lang="zh-CN" altLang="en-US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速度：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每秒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MB-TB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</a:t>
            </a:r>
            <a:endParaRPr lang="en-US" altLang="zh-CN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8361045" y="3666259"/>
            <a:ext cx="1474470" cy="1646786"/>
            <a:chOff x="1447" y="5170"/>
            <a:chExt cx="2481" cy="2809"/>
          </a:xfrm>
        </p:grpSpPr>
        <p:sp>
          <p:nvSpPr>
            <p:cNvPr id="26" name="文本框 1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447" y="7295"/>
              <a:ext cx="2481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智能燃气表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09" y="5170"/>
              <a:ext cx="1756" cy="200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571750" y="4083050"/>
            <a:ext cx="1351280" cy="1229360"/>
            <a:chOff x="4050" y="6430"/>
            <a:chExt cx="2128" cy="1936"/>
          </a:xfrm>
        </p:grpSpPr>
        <p:pic>
          <p:nvPicPr>
            <p:cNvPr id="17" name="图片 16" descr="蓝牙扬声器白色背景，库存照片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50" y="6430"/>
              <a:ext cx="2128" cy="1418"/>
            </a:xfrm>
            <a:prstGeom prst="rect">
              <a:avLst/>
            </a:prstGeom>
          </p:spPr>
        </p:pic>
        <p:sp>
          <p:nvSpPr>
            <p:cNvPr id="23" name="文本框 1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21" y="7736"/>
              <a:ext cx="1987" cy="631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家庭音箱</a:t>
              </a:r>
            </a:p>
          </p:txBody>
        </p:sp>
      </p:grpSp>
      <p:cxnSp>
        <p:nvCxnSpPr>
          <p:cNvPr id="21" name="直接连接符 20"/>
          <p:cNvCxnSpPr>
            <a:stCxn id="29" idx="3"/>
          </p:cNvCxnSpPr>
          <p:nvPr>
            <p:custDataLst>
              <p:tags r:id="rId2"/>
            </p:custDataLst>
          </p:nvPr>
        </p:nvCxnSpPr>
        <p:spPr>
          <a:xfrm flipV="1">
            <a:off x="3983990" y="3140710"/>
            <a:ext cx="4767580" cy="5715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3"/>
            </p:custDataLst>
          </p:nvPr>
        </p:nvCxnSpPr>
        <p:spPr>
          <a:xfrm flipV="1">
            <a:off x="3878580" y="5107940"/>
            <a:ext cx="4431030" cy="5080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rcRect l="2989" r="25818"/>
          <a:stretch>
            <a:fillRect/>
          </a:stretch>
        </p:blipFill>
        <p:spPr>
          <a:xfrm>
            <a:off x="4465320" y="2874645"/>
            <a:ext cx="3490595" cy="2461895"/>
          </a:xfrm>
          <a:prstGeom prst="roundRect">
            <a:avLst>
              <a:gd name="adj" fmla="val 8811"/>
            </a:avLst>
          </a:prstGeom>
        </p:spPr>
      </p:pic>
      <p:grpSp>
        <p:nvGrpSpPr>
          <p:cNvPr id="33" name="组合 32"/>
          <p:cNvGrpSpPr/>
          <p:nvPr>
            <p:custDataLst>
              <p:tags r:id="rId5"/>
            </p:custDataLst>
          </p:nvPr>
        </p:nvGrpSpPr>
        <p:grpSpPr>
          <a:xfrm>
            <a:off x="8597900" y="1890758"/>
            <a:ext cx="1000760" cy="1463675"/>
            <a:chOff x="6297" y="3705"/>
            <a:chExt cx="1748" cy="2556"/>
          </a:xfrm>
        </p:grpSpPr>
        <p:pic>
          <p:nvPicPr>
            <p:cNvPr id="34" name="图片 3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6366" y="3705"/>
              <a:ext cx="1611" cy="1872"/>
            </a:xfrm>
            <a:prstGeom prst="rect">
              <a:avLst/>
            </a:prstGeom>
          </p:spPr>
        </p:pic>
        <p:sp>
          <p:nvSpPr>
            <p:cNvPr id="36" name="文本框 1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297" y="5577"/>
              <a:ext cx="1748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摄像头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303145" y="764540"/>
            <a:ext cx="7918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：找一找生活中的数据传输方式</a:t>
            </a:r>
          </a:p>
        </p:txBody>
      </p:sp>
      <p:pic>
        <p:nvPicPr>
          <p:cNvPr id="47" name="图片 46" descr="卡通人物&#10;&#10;描述已自动生成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68" y="3712447"/>
            <a:ext cx="918845" cy="247269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929816" y="2265580"/>
            <a:ext cx="9740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ZigBee</a:t>
            </a: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23721" y="2664678"/>
            <a:ext cx="148018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距离：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10-100m</a:t>
            </a: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速度：每秒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KB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</a:p>
        </p:txBody>
      </p: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2103120" y="2271395"/>
            <a:ext cx="1880870" cy="1083310"/>
            <a:chOff x="9293" y="7436"/>
            <a:chExt cx="2962" cy="1706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10148" y="7436"/>
              <a:ext cx="1252" cy="926"/>
            </a:xfrm>
            <a:prstGeom prst="rect">
              <a:avLst/>
            </a:prstGeom>
          </p:spPr>
        </p:pic>
        <p:sp>
          <p:nvSpPr>
            <p:cNvPr id="7" name="文本框 1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293" y="8472"/>
              <a:ext cx="2962" cy="670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浸水报警装置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8361045" y="3666259"/>
            <a:ext cx="1474470" cy="1646786"/>
            <a:chOff x="1447" y="5170"/>
            <a:chExt cx="2481" cy="2809"/>
          </a:xfrm>
        </p:grpSpPr>
        <p:sp>
          <p:nvSpPr>
            <p:cNvPr id="26" name="文本框 1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447" y="7295"/>
              <a:ext cx="2481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智能燃气表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8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09" y="5170"/>
              <a:ext cx="1756" cy="200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571750" y="4083050"/>
            <a:ext cx="1351280" cy="1229360"/>
            <a:chOff x="4050" y="6430"/>
            <a:chExt cx="2128" cy="1936"/>
          </a:xfrm>
        </p:grpSpPr>
        <p:pic>
          <p:nvPicPr>
            <p:cNvPr id="17" name="图片 16" descr="蓝牙扬声器白色背景，库存照片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50" y="6430"/>
              <a:ext cx="2128" cy="1418"/>
            </a:xfrm>
            <a:prstGeom prst="rect">
              <a:avLst/>
            </a:prstGeom>
          </p:spPr>
        </p:pic>
        <p:sp>
          <p:nvSpPr>
            <p:cNvPr id="23" name="文本框 1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21" y="7736"/>
              <a:ext cx="1987" cy="631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家庭音箱</a:t>
              </a:r>
            </a:p>
          </p:txBody>
        </p:sp>
      </p:grpSp>
      <p:cxnSp>
        <p:nvCxnSpPr>
          <p:cNvPr id="21" name="直接连接符 20"/>
          <p:cNvCxnSpPr>
            <a:stCxn id="29" idx="3"/>
          </p:cNvCxnSpPr>
          <p:nvPr>
            <p:custDataLst>
              <p:tags r:id="rId2"/>
            </p:custDataLst>
          </p:nvPr>
        </p:nvCxnSpPr>
        <p:spPr>
          <a:xfrm flipV="1">
            <a:off x="3983990" y="3140710"/>
            <a:ext cx="4767580" cy="5715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3"/>
            </p:custDataLst>
          </p:nvPr>
        </p:nvCxnSpPr>
        <p:spPr>
          <a:xfrm flipV="1">
            <a:off x="3878580" y="5107940"/>
            <a:ext cx="4431030" cy="5080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rcRect l="2989" r="25818"/>
          <a:stretch>
            <a:fillRect/>
          </a:stretch>
        </p:blipFill>
        <p:spPr>
          <a:xfrm>
            <a:off x="4465320" y="2874645"/>
            <a:ext cx="3490595" cy="2461895"/>
          </a:xfrm>
          <a:prstGeom prst="roundRect">
            <a:avLst>
              <a:gd name="adj" fmla="val 8811"/>
            </a:avLst>
          </a:prstGeom>
        </p:spPr>
      </p:pic>
      <p:grpSp>
        <p:nvGrpSpPr>
          <p:cNvPr id="33" name="组合 32"/>
          <p:cNvGrpSpPr/>
          <p:nvPr>
            <p:custDataLst>
              <p:tags r:id="rId5"/>
            </p:custDataLst>
          </p:nvPr>
        </p:nvGrpSpPr>
        <p:grpSpPr>
          <a:xfrm>
            <a:off x="8597900" y="1890758"/>
            <a:ext cx="1000760" cy="1463675"/>
            <a:chOff x="6297" y="3705"/>
            <a:chExt cx="1748" cy="2556"/>
          </a:xfrm>
        </p:grpSpPr>
        <p:pic>
          <p:nvPicPr>
            <p:cNvPr id="34" name="图片 3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6366" y="3705"/>
              <a:ext cx="1611" cy="1872"/>
            </a:xfrm>
            <a:prstGeom prst="rect">
              <a:avLst/>
            </a:prstGeom>
          </p:spPr>
        </p:pic>
        <p:sp>
          <p:nvSpPr>
            <p:cNvPr id="36" name="文本框 1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297" y="5577"/>
              <a:ext cx="1748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摄像头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303145" y="764540"/>
            <a:ext cx="7918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：找一找生活中的数据传输方式</a:t>
            </a:r>
          </a:p>
        </p:txBody>
      </p:sp>
      <p:pic>
        <p:nvPicPr>
          <p:cNvPr id="6" name="图片 5" descr="卡通人物&#10;&#10;描述已自动生成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68" y="3712447"/>
            <a:ext cx="918845" cy="247269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730965" y="422519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蓝牙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519256" y="4624288"/>
            <a:ext cx="1851789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距离：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10-30m</a:t>
            </a:r>
            <a:endParaRPr lang="zh-CN" altLang="en-US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速度：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每秒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KB-MB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</a:t>
            </a:r>
            <a:endParaRPr lang="en-US" altLang="zh-CN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2103120" y="2271395"/>
            <a:ext cx="1880870" cy="1083310"/>
            <a:chOff x="9293" y="7436"/>
            <a:chExt cx="2962" cy="1706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10148" y="7436"/>
              <a:ext cx="1252" cy="926"/>
            </a:xfrm>
            <a:prstGeom prst="rect">
              <a:avLst/>
            </a:prstGeom>
          </p:spPr>
        </p:pic>
        <p:sp>
          <p:nvSpPr>
            <p:cNvPr id="11" name="文本框 1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293" y="8472"/>
              <a:ext cx="2962" cy="670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浸水报警装置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4" grpId="0"/>
      <p:bldP spid="1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8361045" y="3666259"/>
            <a:ext cx="1474470" cy="1646786"/>
            <a:chOff x="1447" y="5170"/>
            <a:chExt cx="2481" cy="2809"/>
          </a:xfrm>
        </p:grpSpPr>
        <p:sp>
          <p:nvSpPr>
            <p:cNvPr id="26" name="文本框 1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47" y="7295"/>
              <a:ext cx="2481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智能燃气表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09" y="5170"/>
              <a:ext cx="1756" cy="200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571750" y="4083050"/>
            <a:ext cx="1351280" cy="1229360"/>
            <a:chOff x="4050" y="6430"/>
            <a:chExt cx="2128" cy="1936"/>
          </a:xfrm>
        </p:grpSpPr>
        <p:pic>
          <p:nvPicPr>
            <p:cNvPr id="17" name="图片 16" descr="蓝牙扬声器白色背景，库存照片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050" y="6430"/>
              <a:ext cx="2128" cy="1418"/>
            </a:xfrm>
            <a:prstGeom prst="rect">
              <a:avLst/>
            </a:prstGeom>
          </p:spPr>
        </p:pic>
        <p:sp>
          <p:nvSpPr>
            <p:cNvPr id="23" name="文本框 1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121" y="7736"/>
              <a:ext cx="1987" cy="631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家庭音箱</a:t>
              </a:r>
            </a:p>
          </p:txBody>
        </p:sp>
      </p:grpSp>
      <p:cxnSp>
        <p:nvCxnSpPr>
          <p:cNvPr id="21" name="直接连接符 20"/>
          <p:cNvCxnSpPr>
            <a:stCxn id="29" idx="3"/>
          </p:cNvCxnSpPr>
          <p:nvPr>
            <p:custDataLst>
              <p:tags r:id="rId2"/>
            </p:custDataLst>
          </p:nvPr>
        </p:nvCxnSpPr>
        <p:spPr>
          <a:xfrm flipV="1">
            <a:off x="3983990" y="3140710"/>
            <a:ext cx="4767580" cy="5715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3"/>
            </p:custDataLst>
          </p:nvPr>
        </p:nvCxnSpPr>
        <p:spPr>
          <a:xfrm flipV="1">
            <a:off x="3878580" y="5107940"/>
            <a:ext cx="4431030" cy="5080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rcRect l="2989" r="25818"/>
          <a:stretch>
            <a:fillRect/>
          </a:stretch>
        </p:blipFill>
        <p:spPr>
          <a:xfrm>
            <a:off x="4465320" y="2874645"/>
            <a:ext cx="3490595" cy="2461895"/>
          </a:xfrm>
          <a:prstGeom prst="roundRect">
            <a:avLst>
              <a:gd name="adj" fmla="val 8811"/>
            </a:avLst>
          </a:prstGeom>
        </p:spPr>
      </p:pic>
      <p:grpSp>
        <p:nvGrpSpPr>
          <p:cNvPr id="33" name="组合 32"/>
          <p:cNvGrpSpPr/>
          <p:nvPr>
            <p:custDataLst>
              <p:tags r:id="rId5"/>
            </p:custDataLst>
          </p:nvPr>
        </p:nvGrpSpPr>
        <p:grpSpPr>
          <a:xfrm>
            <a:off x="8597900" y="1890758"/>
            <a:ext cx="1000760" cy="1463675"/>
            <a:chOff x="6297" y="3705"/>
            <a:chExt cx="1748" cy="2556"/>
          </a:xfrm>
        </p:grpSpPr>
        <p:pic>
          <p:nvPicPr>
            <p:cNvPr id="34" name="图片 3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6366" y="3705"/>
              <a:ext cx="1611" cy="1872"/>
            </a:xfrm>
            <a:prstGeom prst="rect">
              <a:avLst/>
            </a:prstGeom>
          </p:spPr>
        </p:pic>
        <p:sp>
          <p:nvSpPr>
            <p:cNvPr id="36" name="文本框 1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297" y="5577"/>
              <a:ext cx="1748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摄像头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303145" y="764540"/>
            <a:ext cx="7918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：找一找生活中的数据传输方式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46" y="3739117"/>
            <a:ext cx="869315" cy="2446655"/>
          </a:xfrm>
          <a:prstGeom prst="rect">
            <a:avLst/>
          </a:prstGeom>
        </p:spPr>
      </p:pic>
      <p:pic>
        <p:nvPicPr>
          <p:cNvPr id="10" name="图片 9" descr="卡通人物&#10;&#10;描述已自动生成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68" y="3712447"/>
            <a:ext cx="918845" cy="2472690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>
            <a:off x="2103120" y="2271395"/>
            <a:ext cx="1880870" cy="1083310"/>
            <a:chOff x="9293" y="7436"/>
            <a:chExt cx="2962" cy="1706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0148" y="7436"/>
              <a:ext cx="1252" cy="926"/>
            </a:xfrm>
            <a:prstGeom prst="rect">
              <a:avLst/>
            </a:prstGeom>
          </p:spPr>
        </p:pic>
        <p:sp>
          <p:nvSpPr>
            <p:cNvPr id="11" name="文本框 1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293" y="8472"/>
              <a:ext cx="2962" cy="670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浸水报警装置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645160" y="2561590"/>
            <a:ext cx="1574800" cy="2363470"/>
            <a:chOff x="1447" y="4257"/>
            <a:chExt cx="2480" cy="3722"/>
          </a:xfrm>
        </p:grpSpPr>
        <p:sp>
          <p:nvSpPr>
            <p:cNvPr id="28" name="文本框 15"/>
            <p:cNvSpPr txBox="1">
              <a:spLocks noChangeArrowheads="1"/>
            </p:cNvSpPr>
            <p:nvPr/>
          </p:nvSpPr>
          <p:spPr bwMode="auto">
            <a:xfrm>
              <a:off x="1447" y="7295"/>
              <a:ext cx="2481" cy="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智能燃气表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8" y="4257"/>
              <a:ext cx="2439" cy="2778"/>
            </a:xfrm>
            <a:prstGeom prst="rect">
              <a:avLst/>
            </a:prstGeom>
          </p:spPr>
        </p:pic>
      </p:grpSp>
      <p:sp>
        <p:nvSpPr>
          <p:cNvPr id="18" name="左大括号 17"/>
          <p:cNvSpPr/>
          <p:nvPr/>
        </p:nvSpPr>
        <p:spPr>
          <a:xfrm>
            <a:off x="2745105" y="2699385"/>
            <a:ext cx="110490" cy="1816735"/>
          </a:xfrm>
          <a:prstGeom prst="leftBrace">
            <a:avLst>
              <a:gd name="adj1" fmla="val 154180"/>
              <a:gd name="adj2" fmla="val 50000"/>
            </a:avLst>
          </a:prstGeom>
          <a:ln>
            <a:solidFill>
              <a:srgbClr val="2E4C6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133725" y="2472690"/>
            <a:ext cx="7298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能耗需求：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低功耗电池续航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需要电源持续供电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19870" y="1657518"/>
            <a:ext cx="2273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</a:t>
            </a:r>
          </a:p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33725" y="3215640"/>
            <a:ext cx="7298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安装成本：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即装即用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需要配网指导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133725" y="3958590"/>
            <a:ext cx="7298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安全需求：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稳定可靠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无法保证网络情况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03145" y="764540"/>
            <a:ext cx="7918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：找一找生活中的数据传输方式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2854960" y="4946015"/>
            <a:ext cx="6954520" cy="1235075"/>
          </a:xfrm>
          <a:prstGeom prst="wedgeRoundRectCallout">
            <a:avLst>
              <a:gd name="adj1" fmla="val -4395"/>
              <a:gd name="adj2" fmla="val -59511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latinLnBrk="0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传输距离远、功耗低、稳定、成本低且安装简单</a:t>
            </a:r>
          </a:p>
          <a:p>
            <a:pPr marL="0" indent="0" algn="ctr" latinLnBrk="0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是专为工业监测而设计的一种数据传输方式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179905" y="1842184"/>
            <a:ext cx="154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Wi-Fi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6" grpId="0"/>
      <p:bldP spid="6" grpId="1"/>
      <p:bldP spid="7" grpId="0"/>
      <p:bldP spid="7" grpId="1"/>
      <p:bldP spid="4" grpId="0" bldLvl="0" animBg="1"/>
      <p:bldP spid="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8361045" y="3666259"/>
            <a:ext cx="1474470" cy="1646786"/>
            <a:chOff x="1447" y="5170"/>
            <a:chExt cx="2481" cy="2809"/>
          </a:xfrm>
        </p:grpSpPr>
        <p:sp>
          <p:nvSpPr>
            <p:cNvPr id="26" name="文本框 1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447" y="7295"/>
              <a:ext cx="2481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智能燃气表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6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09" y="5170"/>
              <a:ext cx="1756" cy="20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2986405" y="764540"/>
            <a:ext cx="6551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数据传输方式的特点比较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0005650" y="3977957"/>
            <a:ext cx="1890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NB-IoT</a:t>
            </a:r>
          </a:p>
          <a:p>
            <a:r>
              <a:rPr lang="en-US" altLang="zh-CN" b="1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1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窄带物联技术）</a:t>
            </a:r>
            <a:endParaRPr lang="en-US" altLang="zh-CN" b="1" dirty="0">
              <a:solidFill>
                <a:srgbClr val="3B56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0005650" y="4624288"/>
            <a:ext cx="1560042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距离：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10km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以内</a:t>
            </a:r>
            <a:endParaRPr lang="en-US" altLang="zh-CN" sz="1400" dirty="0">
              <a:solidFill>
                <a:srgbClr val="3B564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速度：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每秒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</a:t>
            </a: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0005650" y="2260500"/>
            <a:ext cx="7918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Wi-Fi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0005650" y="2659598"/>
            <a:ext cx="1856598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距离：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50-100m</a:t>
            </a:r>
            <a:endParaRPr lang="zh-CN" altLang="en-US" sz="1400" dirty="0">
              <a:solidFill>
                <a:srgbClr val="3B564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速度：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每秒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MB-TB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730965" y="422519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b="1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蓝牙</a:t>
            </a: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467318" y="4624288"/>
            <a:ext cx="1903727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距离：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10-30m</a:t>
            </a:r>
            <a:endParaRPr lang="zh-CN" altLang="en-US" sz="1400" dirty="0">
              <a:solidFill>
                <a:srgbClr val="3B564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速度：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每秒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KB-MB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级</a:t>
            </a: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1021819" y="2265580"/>
            <a:ext cx="9740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b="1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ZigBee</a:t>
            </a: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498383" y="2664678"/>
            <a:ext cx="1497526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距离：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10-100m</a:t>
            </a: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速度：每秒</a:t>
            </a:r>
            <a:r>
              <a:rPr lang="en-US" altLang="zh-CN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KB</a:t>
            </a:r>
            <a:r>
              <a:rPr lang="zh-CN" altLang="en-US" sz="14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</a:p>
        </p:txBody>
      </p:sp>
      <p:cxnSp>
        <p:nvCxnSpPr>
          <p:cNvPr id="21" name="直接连接符 20"/>
          <p:cNvCxnSpPr>
            <a:stCxn id="29" idx="3"/>
          </p:cNvCxnSpPr>
          <p:nvPr>
            <p:custDataLst>
              <p:tags r:id="rId10"/>
            </p:custDataLst>
          </p:nvPr>
        </p:nvCxnSpPr>
        <p:spPr>
          <a:xfrm flipV="1">
            <a:off x="3983990" y="3140710"/>
            <a:ext cx="4767580" cy="5715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1"/>
            </p:custDataLst>
          </p:nvPr>
        </p:nvCxnSpPr>
        <p:spPr>
          <a:xfrm flipV="1">
            <a:off x="3878580" y="5107940"/>
            <a:ext cx="4431030" cy="5080"/>
          </a:xfrm>
          <a:prstGeom prst="line">
            <a:avLst/>
          </a:prstGeom>
          <a:ln>
            <a:solidFill>
              <a:srgbClr val="2E4C64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/>
          <a:srcRect l="2989" r="25818"/>
          <a:stretch>
            <a:fillRect/>
          </a:stretch>
        </p:blipFill>
        <p:spPr>
          <a:xfrm>
            <a:off x="4465320" y="2874645"/>
            <a:ext cx="3490595" cy="2461895"/>
          </a:xfrm>
          <a:prstGeom prst="roundRect">
            <a:avLst>
              <a:gd name="adj" fmla="val 8811"/>
            </a:avLst>
          </a:prstGeom>
        </p:spPr>
      </p:pic>
      <p:grpSp>
        <p:nvGrpSpPr>
          <p:cNvPr id="33" name="组合 32"/>
          <p:cNvGrpSpPr/>
          <p:nvPr>
            <p:custDataLst>
              <p:tags r:id="rId13"/>
            </p:custDataLst>
          </p:nvPr>
        </p:nvGrpSpPr>
        <p:grpSpPr>
          <a:xfrm>
            <a:off x="8597900" y="1890758"/>
            <a:ext cx="1000760" cy="1463675"/>
            <a:chOff x="6297" y="3705"/>
            <a:chExt cx="1748" cy="2556"/>
          </a:xfrm>
        </p:grpSpPr>
        <p:pic>
          <p:nvPicPr>
            <p:cNvPr id="34" name="图片 3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6366" y="3705"/>
              <a:ext cx="1611" cy="1872"/>
            </a:xfrm>
            <a:prstGeom prst="rect">
              <a:avLst/>
            </a:prstGeom>
          </p:spPr>
        </p:pic>
        <p:sp>
          <p:nvSpPr>
            <p:cNvPr id="36" name="文本框 1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297" y="5577"/>
              <a:ext cx="1748" cy="684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摄像头</a:t>
              </a:r>
            </a:p>
          </p:txBody>
        </p:sp>
      </p:grpSp>
      <p:grpSp>
        <p:nvGrpSpPr>
          <p:cNvPr id="32" name="组合 31"/>
          <p:cNvGrpSpPr/>
          <p:nvPr>
            <p:custDataLst>
              <p:tags r:id="rId14"/>
            </p:custDataLst>
          </p:nvPr>
        </p:nvGrpSpPr>
        <p:grpSpPr>
          <a:xfrm>
            <a:off x="2571750" y="4083050"/>
            <a:ext cx="1351280" cy="1229360"/>
            <a:chOff x="4050" y="6430"/>
            <a:chExt cx="2128" cy="1936"/>
          </a:xfrm>
        </p:grpSpPr>
        <p:pic>
          <p:nvPicPr>
            <p:cNvPr id="39" name="图片 38" descr="蓝牙扬声器白色背景，库存照片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4050" y="6430"/>
              <a:ext cx="2128" cy="1418"/>
            </a:xfrm>
            <a:prstGeom prst="rect">
              <a:avLst/>
            </a:prstGeom>
          </p:spPr>
        </p:pic>
        <p:sp>
          <p:nvSpPr>
            <p:cNvPr id="40" name="文本框 1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121" y="7736"/>
              <a:ext cx="1987" cy="631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智能音箱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15"/>
            </p:custDataLst>
          </p:nvPr>
        </p:nvGrpSpPr>
        <p:grpSpPr>
          <a:xfrm>
            <a:off x="2103120" y="2271395"/>
            <a:ext cx="1880870" cy="1083310"/>
            <a:chOff x="9293" y="7436"/>
            <a:chExt cx="2962" cy="1706"/>
          </a:xfrm>
        </p:grpSpPr>
        <p:pic>
          <p:nvPicPr>
            <p:cNvPr id="17" name="图片 16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10148" y="7436"/>
              <a:ext cx="1252" cy="926"/>
            </a:xfrm>
            <a:prstGeom prst="rect">
              <a:avLst/>
            </a:prstGeom>
          </p:spPr>
        </p:pic>
        <p:sp>
          <p:nvSpPr>
            <p:cNvPr id="19" name="文本框 1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293" y="8472"/>
              <a:ext cx="2962" cy="670"/>
            </a:xfrm>
            <a:prstGeom prst="rect">
              <a:avLst/>
            </a:prstGeom>
            <a:solidFill>
              <a:srgbClr val="3B56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浸水报警装置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8155" y="1001395"/>
            <a:ext cx="5618480" cy="873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小</a:t>
            </a:r>
            <a:r>
              <a:rPr lang="en-US" altLang="zh-CN" sz="5400" b="1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5400" b="1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结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2E4C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175552" y="4297045"/>
            <a:ext cx="5109844" cy="540257"/>
            <a:chOff x="996174" y="2188583"/>
            <a:chExt cx="4970565" cy="540000"/>
          </a:xfrm>
        </p:grpSpPr>
        <p:grpSp>
          <p:nvGrpSpPr>
            <p:cNvPr id="3" name="组合 2"/>
            <p:cNvGrpSpPr/>
            <p:nvPr/>
          </p:nvGrpSpPr>
          <p:grpSpPr>
            <a:xfrm>
              <a:off x="996174" y="2188583"/>
              <a:ext cx="4970565" cy="540000"/>
              <a:chOff x="1635965" y="1686127"/>
              <a:chExt cx="5537611" cy="601602"/>
            </a:xfrm>
          </p:grpSpPr>
          <p:sp>
            <p:nvSpPr>
              <p:cNvPr id="15" name="圆角矩形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1852734" y="1729967"/>
                <a:ext cx="5320842" cy="528206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9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1085122" y="2227300"/>
              <a:ext cx="4589450" cy="460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    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多种数据传输方式的选择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1175552" y="2889250"/>
            <a:ext cx="5109845" cy="539750"/>
            <a:chOff x="4439" y="3920"/>
            <a:chExt cx="8047" cy="850"/>
          </a:xfrm>
        </p:grpSpPr>
        <p:grpSp>
          <p:nvGrpSpPr>
            <p:cNvPr id="19" name="组合 18"/>
            <p:cNvGrpSpPr/>
            <p:nvPr>
              <p:custDataLst>
                <p:tags r:id="rId3"/>
              </p:custDataLst>
            </p:nvPr>
          </p:nvGrpSpPr>
          <p:grpSpPr>
            <a:xfrm>
              <a:off x="4439" y="3920"/>
              <a:ext cx="8047" cy="850"/>
              <a:chOff x="7529" y="2240"/>
              <a:chExt cx="8047" cy="850"/>
            </a:xfrm>
          </p:grpSpPr>
          <p:sp>
            <p:nvSpPr>
              <p:cNvPr id="20" name="圆角矩形 28"/>
              <p:cNvSpPr/>
              <p:nvPr>
                <p:custDataLst>
                  <p:tags r:id="rId5"/>
                </p:custDataLst>
              </p:nvPr>
            </p:nvSpPr>
            <p:spPr>
              <a:xfrm>
                <a:off x="7844" y="2302"/>
                <a:ext cx="7732" cy="747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>
                <p:custDataLst>
                  <p:tags r:id="rId6"/>
                </p:custDataLst>
              </p:nvPr>
            </p:nvSpPr>
            <p:spPr>
              <a:xfrm rot="18614181">
                <a:off x="7541" y="2228"/>
                <a:ext cx="850" cy="874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2" name="文本框 21"/>
            <p:cNvSpPr txBox="1"/>
            <p:nvPr>
              <p:custDataLst>
                <p:tags r:id="rId4"/>
              </p:custDataLst>
            </p:nvPr>
          </p:nvSpPr>
          <p:spPr>
            <a:xfrm>
              <a:off x="4584" y="4010"/>
              <a:ext cx="7430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      </a:t>
              </a:r>
              <a:r>
                <a:rPr lang="zh-CN" altLang="en-US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探析物联系统中的数据传输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61689" y="2206304"/>
            <a:ext cx="6936740" cy="2281805"/>
            <a:chOff x="1761689" y="2206304"/>
            <a:chExt cx="6936740" cy="2281805"/>
          </a:xfrm>
          <a:solidFill>
            <a:schemeClr val="bg1">
              <a:lumMod val="75000"/>
            </a:schemeClr>
          </a:solidFill>
        </p:grpSpPr>
        <p:sp>
          <p:nvSpPr>
            <p:cNvPr id="9" name="矩形 1"/>
            <p:cNvSpPr/>
            <p:nvPr/>
          </p:nvSpPr>
          <p:spPr>
            <a:xfrm rot="10800000">
              <a:off x="1761689" y="2206304"/>
              <a:ext cx="1904301" cy="2281805"/>
            </a:xfrm>
            <a:custGeom>
              <a:avLst/>
              <a:gdLst>
                <a:gd name="connsiteX0" fmla="*/ 0 w 1904301"/>
                <a:gd name="connsiteY0" fmla="*/ 0 h 2281805"/>
                <a:gd name="connsiteX1" fmla="*/ 1904301 w 1904301"/>
                <a:gd name="connsiteY1" fmla="*/ 0 h 2281805"/>
                <a:gd name="connsiteX2" fmla="*/ 1904301 w 1904301"/>
                <a:gd name="connsiteY2" fmla="*/ 2281805 h 2281805"/>
                <a:gd name="connsiteX3" fmla="*/ 0 w 1904301"/>
                <a:gd name="connsiteY3" fmla="*/ 2281805 h 2281805"/>
                <a:gd name="connsiteX4" fmla="*/ 0 w 1904301"/>
                <a:gd name="connsiteY4" fmla="*/ 0 h 2281805"/>
                <a:gd name="connsiteX0-1" fmla="*/ 0 w 1904301"/>
                <a:gd name="connsiteY0-2" fmla="*/ 0 h 2281805"/>
                <a:gd name="connsiteX1-3" fmla="*/ 1904301 w 1904301"/>
                <a:gd name="connsiteY1-4" fmla="*/ 0 h 2281805"/>
                <a:gd name="connsiteX2-5" fmla="*/ 1476462 w 1904301"/>
                <a:gd name="connsiteY2-6" fmla="*/ 2281805 h 2281805"/>
                <a:gd name="connsiteX3-7" fmla="*/ 0 w 1904301"/>
                <a:gd name="connsiteY3-8" fmla="*/ 2281805 h 2281805"/>
                <a:gd name="connsiteX4-9" fmla="*/ 0 w 1904301"/>
                <a:gd name="connsiteY4-10" fmla="*/ 0 h 22818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04301" h="2281805">
                  <a:moveTo>
                    <a:pt x="0" y="0"/>
                  </a:moveTo>
                  <a:lnTo>
                    <a:pt x="1904301" y="0"/>
                  </a:lnTo>
                  <a:lnTo>
                    <a:pt x="1476462" y="2281805"/>
                  </a:lnTo>
                  <a:lnTo>
                    <a:pt x="0" y="22818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473014" y="2206304"/>
              <a:ext cx="5225415" cy="22815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704465" y="3009265"/>
            <a:ext cx="337693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</a:rPr>
              <a:t>课后思考</a:t>
            </a:r>
          </a:p>
        </p:txBody>
      </p:sp>
      <p:sp>
        <p:nvSpPr>
          <p:cNvPr id="3" name="矩形 1"/>
          <p:cNvSpPr/>
          <p:nvPr/>
        </p:nvSpPr>
        <p:spPr>
          <a:xfrm>
            <a:off x="0" y="2206304"/>
            <a:ext cx="1904301" cy="2281805"/>
          </a:xfrm>
          <a:custGeom>
            <a:avLst/>
            <a:gdLst>
              <a:gd name="connsiteX0" fmla="*/ 0 w 1904301"/>
              <a:gd name="connsiteY0" fmla="*/ 0 h 2281805"/>
              <a:gd name="connsiteX1" fmla="*/ 1904301 w 1904301"/>
              <a:gd name="connsiteY1" fmla="*/ 0 h 2281805"/>
              <a:gd name="connsiteX2" fmla="*/ 1904301 w 1904301"/>
              <a:gd name="connsiteY2" fmla="*/ 2281805 h 2281805"/>
              <a:gd name="connsiteX3" fmla="*/ 0 w 1904301"/>
              <a:gd name="connsiteY3" fmla="*/ 2281805 h 2281805"/>
              <a:gd name="connsiteX4" fmla="*/ 0 w 1904301"/>
              <a:gd name="connsiteY4" fmla="*/ 0 h 2281805"/>
              <a:gd name="connsiteX0-1" fmla="*/ 0 w 1904301"/>
              <a:gd name="connsiteY0-2" fmla="*/ 0 h 2281805"/>
              <a:gd name="connsiteX1-3" fmla="*/ 1904301 w 1904301"/>
              <a:gd name="connsiteY1-4" fmla="*/ 0 h 2281805"/>
              <a:gd name="connsiteX2-5" fmla="*/ 1476462 w 1904301"/>
              <a:gd name="connsiteY2-6" fmla="*/ 2281805 h 2281805"/>
              <a:gd name="connsiteX3-7" fmla="*/ 0 w 1904301"/>
              <a:gd name="connsiteY3-8" fmla="*/ 2281805 h 2281805"/>
              <a:gd name="connsiteX4-9" fmla="*/ 0 w 1904301"/>
              <a:gd name="connsiteY4-10" fmla="*/ 0 h 22818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04301" h="2281805">
                <a:moveTo>
                  <a:pt x="0" y="0"/>
                </a:moveTo>
                <a:lnTo>
                  <a:pt x="1904301" y="0"/>
                </a:lnTo>
                <a:lnTo>
                  <a:pt x="1476462" y="2281805"/>
                </a:lnTo>
                <a:lnTo>
                  <a:pt x="0" y="2281805"/>
                </a:lnTo>
                <a:lnTo>
                  <a:pt x="0" y="0"/>
                </a:lnTo>
                <a:close/>
              </a:path>
            </a:pathLst>
          </a:cu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81658" y="2078230"/>
            <a:ext cx="7806055" cy="1205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随着科技的发展，人类已经建立全天候的高速率网络连接和通信，为什么还要发展低功耗远程数据传输技术呢？</a:t>
            </a:r>
          </a:p>
        </p:txBody>
      </p:sp>
      <p:pic>
        <p:nvPicPr>
          <p:cNvPr id="5" name="图片 4" descr="图表, 图标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872" y="3574540"/>
            <a:ext cx="2728372" cy="2728372"/>
          </a:xfrm>
          <a:prstGeom prst="rect">
            <a:avLst/>
          </a:prstGeom>
        </p:spPr>
      </p:pic>
      <p:pic>
        <p:nvPicPr>
          <p:cNvPr id="6" name="图片 5" descr="图片包含 户外, 飞行, 空气, 飞机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8" y="3574540"/>
            <a:ext cx="4092557" cy="2728372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110615" y="1124585"/>
            <a:ext cx="6337300" cy="469900"/>
            <a:chOff x="2739" y="1541"/>
            <a:chExt cx="9980" cy="740"/>
          </a:xfrm>
        </p:grpSpPr>
        <p:grpSp>
          <p:nvGrpSpPr>
            <p:cNvPr id="3" name="组合 2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A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3626" y="1985"/>
              <a:ext cx="9093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1825625" y="764540"/>
            <a:ext cx="54590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3B564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课后思考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055688" y="1460037"/>
            <a:ext cx="10080625" cy="1006475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声  明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内容占位符 7"/>
          <p:cNvSpPr txBox="1"/>
          <p:nvPr/>
        </p:nvSpPr>
        <p:spPr>
          <a:xfrm>
            <a:off x="800100" y="2243776"/>
            <a:ext cx="10336212" cy="3350448"/>
          </a:xfr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20090" algn="just">
              <a:buFont typeface="Arial" panose="020B0604020202020204" pitchFamily="34" charset="0"/>
              <a:buNone/>
            </a:pPr>
            <a:r>
              <a:rPr lang="zh-CN" altLang="zh-CN" sz="26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上海市中小学在线视频课中部分图片、视频、音乐、文章等作品来源于相关专著、网络资源等，已努力查询并标注来源，但未免有疏漏之处。如存在个别未标注的情形，敬请谅解！</a:t>
            </a:r>
            <a:endParaRPr lang="en-US" altLang="zh-CN" sz="2600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720090" algn="just">
              <a:buFont typeface="Arial" panose="020B0604020202020204" pitchFamily="34" charset="0"/>
              <a:buNone/>
            </a:pPr>
            <a:r>
              <a:rPr lang="zh-CN" altLang="zh-CN" sz="26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本课所有相关原创课件、资源与视频等，除法律另有规定之外，任何单位和个人未经版权单位授权不得使用。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055687" y="1144935"/>
            <a:ext cx="10080625" cy="100647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上海市基础教育数字化转型项目组</a:t>
            </a:r>
            <a:b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（初中信息科技）</a:t>
            </a:r>
            <a:b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02783" y="4494246"/>
            <a:ext cx="5243446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制作时间：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Wingdings" panose="05000000000000000000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2"/>
    </mc:Choice>
    <mc:Fallback xmlns="">
      <p:transition spd="slow" advTm="2732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JmZGI1NTVhZWQyN2Y4MmJkMDUxYjhlNDYxYWY5YTUifQ=="/>
  <p:tag name="RESOURCE_RECORD_KEY" val="{&quot;10&quot;:[21548379,21548530,21560654,21579551,20183404,21558200,20251177,2159636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367.95,&quot;top&quot;:170.3,&quot;width&quot;:487.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7*182"/>
  <p:tag name="TABLE_ENDDRAG_RECT" val="175*214*767*1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48,&quot;top&quot;:123.15,&quot;width&quot;:891.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48,&quot;top&quot;:123.15,&quot;width&quot;:891.7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48,&quot;top&quot;:123.15,&quot;width&quot;:891.7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48,&quot;top&quot;:123.15,&quot;width&quot;:891.7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48,&quot;top&quot;:123.15,&quot;width&quot;:891.7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48,&quot;top&quot;:123.15,&quot;width&quot;:891.7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3.29645669291348,&quot;top&quot;:123.15,&quot;width&quot;:890.4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2595002360476,&quot;left&quot;:42.04645669291339,&quot;top&quot;:123.15,&quot;width&quot;:891.7000000000002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367.95,&quot;top&quot;:170.3,&quot;width&quot;:487.2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3.9,&quot;left&quot;:91.35,&quot;top&quot;:170.3,&quot;width&quot;:777.8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796</Words>
  <Application>Microsoft Office PowerPoint</Application>
  <PresentationFormat>宽屏</PresentationFormat>
  <Paragraphs>174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Calibri</vt:lpstr>
      <vt:lpstr>等线</vt:lpstr>
      <vt:lpstr>黑体</vt:lpstr>
      <vt:lpstr>华文楷体</vt:lpstr>
      <vt:lpstr>楷体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声  明</vt:lpstr>
      <vt:lpstr>上海市基础教育数字化转型项目组 （初中信息科技）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陈伟玲</dc:creator>
  <cp:lastModifiedBy>静 谢</cp:lastModifiedBy>
  <cp:revision>1257</cp:revision>
  <cp:lastPrinted>2023-11-28T07:31:00Z</cp:lastPrinted>
  <dcterms:created xsi:type="dcterms:W3CDTF">2020-02-05T11:17:00Z</dcterms:created>
  <dcterms:modified xsi:type="dcterms:W3CDTF">2025-09-28T15:22:38Z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D8653281B530421E8DE3E4963D52EA6C_13</vt:lpwstr>
  </property>
  <property fmtid="{D5CDD505-2E9C-101B-9397-08002B2CF9AE}" pid="3" name="KSOProductBuildVer">
    <vt:lpwstr>2052-12.1.0.22529</vt:lpwstr>
  </property>
</Properties>
</file>